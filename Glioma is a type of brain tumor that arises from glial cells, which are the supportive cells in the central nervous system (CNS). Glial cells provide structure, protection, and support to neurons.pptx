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Bubblebody Neue" panose="020B0604020202020204" charset="0"/>
      <p:regular r:id="rId14"/>
    </p:embeddedFont>
    <p:embeddedFont>
      <p:font typeface="Bubblebody Neue Bold" panose="020B0604020202020204" charset="0"/>
      <p:regular r:id="rId15"/>
    </p:embeddedFont>
    <p:embeddedFont>
      <p:font typeface="Canva Sans" panose="020B0604020202020204" charset="0"/>
      <p:regular r:id="rId16"/>
    </p:embeddedFont>
    <p:embeddedFont>
      <p:font typeface="Canva Sans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5" d="100"/>
          <a:sy n="55" d="100"/>
        </p:scale>
        <p:origin x="701"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2.svg"/><Relationship Id="rId12"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4.svg"/><Relationship Id="rId5" Type="http://schemas.openxmlformats.org/officeDocument/2006/relationships/image" Target="../media/image10.svg"/><Relationship Id="rId10" Type="http://schemas.openxmlformats.org/officeDocument/2006/relationships/image" Target="../media/image3.png"/><Relationship Id="rId4" Type="http://schemas.openxmlformats.org/officeDocument/2006/relationships/image" Target="../media/image9.pn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8.svg"/><Relationship Id="rId7" Type="http://schemas.openxmlformats.org/officeDocument/2006/relationships/image" Target="../media/image15.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5.sv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5.sv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0.svg"/><Relationship Id="rId7" Type="http://schemas.openxmlformats.org/officeDocument/2006/relationships/image" Target="../media/image2.sv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4.svg"/><Relationship Id="rId5" Type="http://schemas.openxmlformats.org/officeDocument/2006/relationships/image" Target="../media/image22.svg"/><Relationship Id="rId10" Type="http://schemas.openxmlformats.org/officeDocument/2006/relationships/image" Target="../media/image3.png"/><Relationship Id="rId4" Type="http://schemas.openxmlformats.org/officeDocument/2006/relationships/image" Target="../media/image21.png"/><Relationship Id="rId9" Type="http://schemas.openxmlformats.org/officeDocument/2006/relationships/image" Target="../media/image12.svg"/></Relationships>
</file>

<file path=ppt/slides/_rels/slide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0.svg"/><Relationship Id="rId5" Type="http://schemas.openxmlformats.org/officeDocument/2006/relationships/image" Target="../media/image26.svg"/><Relationship Id="rId10" Type="http://schemas.openxmlformats.org/officeDocument/2006/relationships/image" Target="../media/image29.png"/><Relationship Id="rId4" Type="http://schemas.openxmlformats.org/officeDocument/2006/relationships/image" Target="../media/image25.png"/><Relationship Id="rId9"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Freeform 2"/>
          <p:cNvSpPr/>
          <p:nvPr/>
        </p:nvSpPr>
        <p:spPr>
          <a:xfrm>
            <a:off x="7155401" y="4472832"/>
            <a:ext cx="3539193" cy="199127"/>
          </a:xfrm>
          <a:custGeom>
            <a:avLst/>
            <a:gdLst/>
            <a:ahLst/>
            <a:cxnLst/>
            <a:rect l="l" t="t" r="r" b="b"/>
            <a:pathLst>
              <a:path w="3539193" h="199127">
                <a:moveTo>
                  <a:pt x="0" y="0"/>
                </a:moveTo>
                <a:lnTo>
                  <a:pt x="3539192" y="0"/>
                </a:lnTo>
                <a:lnTo>
                  <a:pt x="3539192" y="199126"/>
                </a:lnTo>
                <a:lnTo>
                  <a:pt x="0" y="1991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7155401" y="1028700"/>
            <a:ext cx="3539193" cy="199127"/>
          </a:xfrm>
          <a:custGeom>
            <a:avLst/>
            <a:gdLst/>
            <a:ahLst/>
            <a:cxnLst/>
            <a:rect l="l" t="t" r="r" b="b"/>
            <a:pathLst>
              <a:path w="3539193" h="199127">
                <a:moveTo>
                  <a:pt x="0" y="0"/>
                </a:moveTo>
                <a:lnTo>
                  <a:pt x="3539192" y="0"/>
                </a:lnTo>
                <a:lnTo>
                  <a:pt x="3539192" y="199127"/>
                </a:lnTo>
                <a:lnTo>
                  <a:pt x="0" y="199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300606" y="327725"/>
            <a:ext cx="5472439" cy="3066788"/>
          </a:xfrm>
          <a:custGeom>
            <a:avLst/>
            <a:gdLst/>
            <a:ahLst/>
            <a:cxnLst/>
            <a:rect l="l" t="t" r="r" b="b"/>
            <a:pathLst>
              <a:path w="5472439" h="3066788">
                <a:moveTo>
                  <a:pt x="0" y="0"/>
                </a:moveTo>
                <a:lnTo>
                  <a:pt x="5472439" y="0"/>
                </a:lnTo>
                <a:lnTo>
                  <a:pt x="5472439" y="3066787"/>
                </a:lnTo>
                <a:lnTo>
                  <a:pt x="0" y="30667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14088414" y="7210770"/>
            <a:ext cx="5472439" cy="3066788"/>
          </a:xfrm>
          <a:custGeom>
            <a:avLst/>
            <a:gdLst/>
            <a:ahLst/>
            <a:cxnLst/>
            <a:rect l="l" t="t" r="r" b="b"/>
            <a:pathLst>
              <a:path w="5472439" h="3066788">
                <a:moveTo>
                  <a:pt x="0" y="0"/>
                </a:moveTo>
                <a:lnTo>
                  <a:pt x="5472439" y="0"/>
                </a:lnTo>
                <a:lnTo>
                  <a:pt x="5472439" y="3066788"/>
                </a:lnTo>
                <a:lnTo>
                  <a:pt x="0" y="30667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13766481" y="919149"/>
            <a:ext cx="4066445" cy="2824331"/>
          </a:xfrm>
          <a:custGeom>
            <a:avLst/>
            <a:gdLst/>
            <a:ahLst/>
            <a:cxnLst/>
            <a:rect l="l" t="t" r="r" b="b"/>
            <a:pathLst>
              <a:path w="4066445" h="2824331">
                <a:moveTo>
                  <a:pt x="0" y="0"/>
                </a:moveTo>
                <a:lnTo>
                  <a:pt x="4066445" y="0"/>
                </a:lnTo>
                <a:lnTo>
                  <a:pt x="4066445" y="2824331"/>
                </a:lnTo>
                <a:lnTo>
                  <a:pt x="0" y="28243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TextBox 7"/>
          <p:cNvSpPr txBox="1"/>
          <p:nvPr/>
        </p:nvSpPr>
        <p:spPr>
          <a:xfrm>
            <a:off x="2099819" y="194132"/>
            <a:ext cx="3096894" cy="753835"/>
          </a:xfrm>
          <a:prstGeom prst="rect">
            <a:avLst/>
          </a:prstGeom>
        </p:spPr>
        <p:txBody>
          <a:bodyPr lIns="0" tIns="0" rIns="0" bIns="0" rtlCol="0" anchor="t">
            <a:spAutoFit/>
          </a:bodyPr>
          <a:lstStyle/>
          <a:p>
            <a:pPr algn="ctr">
              <a:lnSpc>
                <a:spcPts val="5963"/>
              </a:lnSpc>
            </a:pPr>
            <a:r>
              <a:rPr lang="en-US" sz="4259" b="1">
                <a:solidFill>
                  <a:srgbClr val="593EA1"/>
                </a:solidFill>
                <a:latin typeface="Bubblebody Neue Bold"/>
                <a:ea typeface="Bubblebody Neue Bold"/>
                <a:cs typeface="Bubblebody Neue Bold"/>
                <a:sym typeface="Bubblebody Neue Bold"/>
              </a:rPr>
              <a:t>RESEARCH</a:t>
            </a:r>
          </a:p>
        </p:txBody>
      </p:sp>
      <p:sp>
        <p:nvSpPr>
          <p:cNvPr id="8" name="TextBox 8"/>
          <p:cNvSpPr txBox="1"/>
          <p:nvPr/>
        </p:nvSpPr>
        <p:spPr>
          <a:xfrm>
            <a:off x="13547013" y="194132"/>
            <a:ext cx="4285913" cy="725017"/>
          </a:xfrm>
          <a:prstGeom prst="rect">
            <a:avLst/>
          </a:prstGeom>
        </p:spPr>
        <p:txBody>
          <a:bodyPr lIns="0" tIns="0" rIns="0" bIns="0" rtlCol="0" anchor="t">
            <a:spAutoFit/>
          </a:bodyPr>
          <a:lstStyle/>
          <a:p>
            <a:pPr algn="ctr">
              <a:lnSpc>
                <a:spcPts val="5698"/>
              </a:lnSpc>
            </a:pPr>
            <a:r>
              <a:rPr lang="en-US" sz="4070" b="1">
                <a:solidFill>
                  <a:srgbClr val="2D8BBA"/>
                </a:solidFill>
                <a:latin typeface="Bubblebody Neue Bold"/>
                <a:ea typeface="Bubblebody Neue Bold"/>
                <a:cs typeface="Bubblebody Neue Bold"/>
                <a:sym typeface="Bubblebody Neue Bold"/>
              </a:rPr>
              <a:t>PRESENTATION</a:t>
            </a:r>
          </a:p>
        </p:txBody>
      </p:sp>
      <p:sp>
        <p:nvSpPr>
          <p:cNvPr id="9" name="TextBox 9"/>
          <p:cNvSpPr txBox="1"/>
          <p:nvPr/>
        </p:nvSpPr>
        <p:spPr>
          <a:xfrm>
            <a:off x="4977710" y="5783352"/>
            <a:ext cx="7641628" cy="538307"/>
          </a:xfrm>
          <a:prstGeom prst="rect">
            <a:avLst/>
          </a:prstGeom>
        </p:spPr>
        <p:txBody>
          <a:bodyPr lIns="0" tIns="0" rIns="0" bIns="0" rtlCol="0" anchor="t">
            <a:spAutoFit/>
          </a:bodyPr>
          <a:lstStyle/>
          <a:p>
            <a:pPr algn="ctr">
              <a:lnSpc>
                <a:spcPts val="4478"/>
              </a:lnSpc>
            </a:pPr>
            <a:r>
              <a:rPr lang="en-US" sz="3198" b="1">
                <a:solidFill>
                  <a:srgbClr val="A2DFD9"/>
                </a:solidFill>
                <a:latin typeface="Canva Sans Bold"/>
                <a:ea typeface="Canva Sans Bold"/>
                <a:cs typeface="Canva Sans Bold"/>
                <a:sym typeface="Canva Sans Bold"/>
              </a:rPr>
              <a:t>Mallak Ahmed 221000746</a:t>
            </a:r>
          </a:p>
        </p:txBody>
      </p:sp>
      <p:sp>
        <p:nvSpPr>
          <p:cNvPr id="10" name="TextBox 10"/>
          <p:cNvSpPr txBox="1"/>
          <p:nvPr/>
        </p:nvSpPr>
        <p:spPr>
          <a:xfrm>
            <a:off x="3548631" y="1657326"/>
            <a:ext cx="10752732" cy="1929680"/>
          </a:xfrm>
          <a:prstGeom prst="rect">
            <a:avLst/>
          </a:prstGeom>
        </p:spPr>
        <p:txBody>
          <a:bodyPr lIns="0" tIns="0" rIns="0" bIns="0" rtlCol="0" anchor="t">
            <a:spAutoFit/>
          </a:bodyPr>
          <a:lstStyle/>
          <a:p>
            <a:pPr algn="ctr">
              <a:lnSpc>
                <a:spcPts val="5093"/>
              </a:lnSpc>
            </a:pPr>
            <a:r>
              <a:rPr lang="en-US" sz="3638" b="1">
                <a:solidFill>
                  <a:srgbClr val="000000"/>
                </a:solidFill>
                <a:latin typeface="Bubblebody Neue Bold"/>
                <a:ea typeface="Bubblebody Neue Bold"/>
                <a:cs typeface="Bubblebody Neue Bold"/>
                <a:sym typeface="Bubblebody Neue Bold"/>
              </a:rPr>
              <a:t>Glioma mutation detection </a:t>
            </a:r>
          </a:p>
          <a:p>
            <a:pPr algn="ctr">
              <a:lnSpc>
                <a:spcPts val="5093"/>
              </a:lnSpc>
            </a:pPr>
            <a:r>
              <a:rPr lang="en-US" sz="3638" b="1">
                <a:solidFill>
                  <a:srgbClr val="000000"/>
                </a:solidFill>
                <a:latin typeface="Bubblebody Neue Bold"/>
                <a:ea typeface="Bubblebody Neue Bold"/>
                <a:cs typeface="Bubblebody Neue Bold"/>
                <a:sym typeface="Bubblebody Neue Bold"/>
              </a:rPr>
              <a:t>and </a:t>
            </a:r>
          </a:p>
          <a:p>
            <a:pPr algn="ctr">
              <a:lnSpc>
                <a:spcPts val="5093"/>
              </a:lnSpc>
              <a:spcBef>
                <a:spcPct val="0"/>
              </a:spcBef>
            </a:pPr>
            <a:r>
              <a:rPr lang="en-US" sz="3638" b="1">
                <a:solidFill>
                  <a:srgbClr val="000000"/>
                </a:solidFill>
                <a:latin typeface="Bubblebody Neue Bold"/>
                <a:ea typeface="Bubblebody Neue Bold"/>
                <a:cs typeface="Bubblebody Neue Bold"/>
                <a:sym typeface="Bubblebody Neue Bold"/>
              </a:rPr>
              <a:t>Classification</a:t>
            </a:r>
          </a:p>
        </p:txBody>
      </p:sp>
      <p:sp>
        <p:nvSpPr>
          <p:cNvPr id="11" name="TextBox 11"/>
          <p:cNvSpPr txBox="1"/>
          <p:nvPr/>
        </p:nvSpPr>
        <p:spPr>
          <a:xfrm>
            <a:off x="4851236" y="8694541"/>
            <a:ext cx="7894574" cy="563759"/>
          </a:xfrm>
          <a:prstGeom prst="rect">
            <a:avLst/>
          </a:prstGeom>
        </p:spPr>
        <p:txBody>
          <a:bodyPr lIns="0" tIns="0" rIns="0" bIns="0" rtlCol="0" anchor="t">
            <a:spAutoFit/>
          </a:bodyPr>
          <a:lstStyle/>
          <a:p>
            <a:pPr algn="ctr">
              <a:lnSpc>
                <a:spcPts val="4626"/>
              </a:lnSpc>
            </a:pPr>
            <a:r>
              <a:rPr lang="en-US" sz="3304" b="1">
                <a:solidFill>
                  <a:srgbClr val="A2DFD9"/>
                </a:solidFill>
                <a:latin typeface="Canva Sans Bold"/>
                <a:ea typeface="Canva Sans Bold"/>
                <a:cs typeface="Canva Sans Bold"/>
                <a:sym typeface="Canva Sans Bold"/>
              </a:rPr>
              <a:t>Raheeq Dardir 211001075</a:t>
            </a:r>
          </a:p>
        </p:txBody>
      </p:sp>
      <p:sp>
        <p:nvSpPr>
          <p:cNvPr id="12" name="TextBox 12"/>
          <p:cNvSpPr txBox="1"/>
          <p:nvPr/>
        </p:nvSpPr>
        <p:spPr>
          <a:xfrm>
            <a:off x="4977710" y="7651888"/>
            <a:ext cx="7641628" cy="538307"/>
          </a:xfrm>
          <a:prstGeom prst="rect">
            <a:avLst/>
          </a:prstGeom>
        </p:spPr>
        <p:txBody>
          <a:bodyPr lIns="0" tIns="0" rIns="0" bIns="0" rtlCol="0" anchor="t">
            <a:spAutoFit/>
          </a:bodyPr>
          <a:lstStyle/>
          <a:p>
            <a:pPr algn="ctr">
              <a:lnSpc>
                <a:spcPts val="4478"/>
              </a:lnSpc>
            </a:pPr>
            <a:r>
              <a:rPr lang="en-US" sz="3198" b="1">
                <a:solidFill>
                  <a:srgbClr val="A2DFD9"/>
                </a:solidFill>
                <a:latin typeface="Canva Sans Bold"/>
                <a:ea typeface="Canva Sans Bold"/>
                <a:cs typeface="Canva Sans Bold"/>
                <a:sym typeface="Canva Sans Bold"/>
              </a:rPr>
              <a:t>Ziad ElShazly 221001682</a:t>
            </a:r>
          </a:p>
        </p:txBody>
      </p:sp>
      <p:sp>
        <p:nvSpPr>
          <p:cNvPr id="13" name="TextBox 13"/>
          <p:cNvSpPr txBox="1"/>
          <p:nvPr/>
        </p:nvSpPr>
        <p:spPr>
          <a:xfrm>
            <a:off x="9144000" y="6694720"/>
            <a:ext cx="7641628" cy="538307"/>
          </a:xfrm>
          <a:prstGeom prst="rect">
            <a:avLst/>
          </a:prstGeom>
        </p:spPr>
        <p:txBody>
          <a:bodyPr lIns="0" tIns="0" rIns="0" bIns="0" rtlCol="0" anchor="t">
            <a:spAutoFit/>
          </a:bodyPr>
          <a:lstStyle/>
          <a:p>
            <a:pPr algn="ctr">
              <a:lnSpc>
                <a:spcPts val="4478"/>
              </a:lnSpc>
            </a:pPr>
            <a:r>
              <a:rPr lang="en-US" sz="3198" b="1">
                <a:solidFill>
                  <a:srgbClr val="A2DFD9"/>
                </a:solidFill>
                <a:latin typeface="Canva Sans Bold"/>
                <a:ea typeface="Canva Sans Bold"/>
                <a:cs typeface="Canva Sans Bold"/>
                <a:sym typeface="Canva Sans Bold"/>
              </a:rPr>
              <a:t>Christina Lamey 221001505</a:t>
            </a:r>
          </a:p>
        </p:txBody>
      </p:sp>
      <p:sp>
        <p:nvSpPr>
          <p:cNvPr id="14" name="TextBox 14"/>
          <p:cNvSpPr txBox="1"/>
          <p:nvPr/>
        </p:nvSpPr>
        <p:spPr>
          <a:xfrm>
            <a:off x="9385187" y="4871983"/>
            <a:ext cx="7641628" cy="538307"/>
          </a:xfrm>
          <a:prstGeom prst="rect">
            <a:avLst/>
          </a:prstGeom>
        </p:spPr>
        <p:txBody>
          <a:bodyPr lIns="0" tIns="0" rIns="0" bIns="0" rtlCol="0" anchor="t">
            <a:spAutoFit/>
          </a:bodyPr>
          <a:lstStyle/>
          <a:p>
            <a:pPr algn="ctr">
              <a:lnSpc>
                <a:spcPts val="4478"/>
              </a:lnSpc>
            </a:pPr>
            <a:r>
              <a:rPr lang="en-US" sz="3198" b="1">
                <a:solidFill>
                  <a:srgbClr val="A2DFD9"/>
                </a:solidFill>
                <a:latin typeface="Canva Sans Bold"/>
                <a:ea typeface="Canva Sans Bold"/>
                <a:cs typeface="Canva Sans Bold"/>
                <a:sym typeface="Canva Sans Bold"/>
              </a:rPr>
              <a:t>Hajar Abdelhalim 221000755</a:t>
            </a:r>
          </a:p>
        </p:txBody>
      </p:sp>
      <p:sp>
        <p:nvSpPr>
          <p:cNvPr id="15" name="TextBox 15"/>
          <p:cNvSpPr txBox="1"/>
          <p:nvPr/>
        </p:nvSpPr>
        <p:spPr>
          <a:xfrm>
            <a:off x="664945" y="6694720"/>
            <a:ext cx="7641628" cy="538307"/>
          </a:xfrm>
          <a:prstGeom prst="rect">
            <a:avLst/>
          </a:prstGeom>
        </p:spPr>
        <p:txBody>
          <a:bodyPr lIns="0" tIns="0" rIns="0" bIns="0" rtlCol="0" anchor="t">
            <a:spAutoFit/>
          </a:bodyPr>
          <a:lstStyle/>
          <a:p>
            <a:pPr algn="ctr">
              <a:lnSpc>
                <a:spcPts val="4478"/>
              </a:lnSpc>
            </a:pPr>
            <a:r>
              <a:rPr lang="en-US" sz="3198" b="1">
                <a:solidFill>
                  <a:srgbClr val="A2DFD9"/>
                </a:solidFill>
                <a:latin typeface="Canva Sans Bold"/>
                <a:ea typeface="Canva Sans Bold"/>
                <a:cs typeface="Canva Sans Bold"/>
                <a:sym typeface="Canva Sans Bold"/>
              </a:rPr>
              <a:t>Mohamed Bakry 221000360</a:t>
            </a:r>
          </a:p>
        </p:txBody>
      </p:sp>
      <p:sp>
        <p:nvSpPr>
          <p:cNvPr id="16" name="TextBox 16"/>
          <p:cNvSpPr txBox="1"/>
          <p:nvPr/>
        </p:nvSpPr>
        <p:spPr>
          <a:xfrm>
            <a:off x="664945" y="4871983"/>
            <a:ext cx="7641628" cy="538307"/>
          </a:xfrm>
          <a:prstGeom prst="rect">
            <a:avLst/>
          </a:prstGeom>
        </p:spPr>
        <p:txBody>
          <a:bodyPr lIns="0" tIns="0" rIns="0" bIns="0" rtlCol="0" anchor="t">
            <a:spAutoFit/>
          </a:bodyPr>
          <a:lstStyle/>
          <a:p>
            <a:pPr algn="ctr">
              <a:lnSpc>
                <a:spcPts val="4478"/>
              </a:lnSpc>
            </a:pPr>
            <a:r>
              <a:rPr lang="en-US" sz="3198" b="1">
                <a:solidFill>
                  <a:srgbClr val="A2DFD9"/>
                </a:solidFill>
                <a:latin typeface="Canva Sans Bold"/>
                <a:ea typeface="Canva Sans Bold"/>
                <a:cs typeface="Canva Sans Bold"/>
                <a:sym typeface="Canva Sans Bold"/>
              </a:rPr>
              <a:t>Hazem Mahmoud 221002111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Freeform 2"/>
          <p:cNvSpPr/>
          <p:nvPr/>
        </p:nvSpPr>
        <p:spPr>
          <a:xfrm>
            <a:off x="1028700" y="3646689"/>
            <a:ext cx="3561172" cy="4114800"/>
          </a:xfrm>
          <a:custGeom>
            <a:avLst/>
            <a:gdLst/>
            <a:ahLst/>
            <a:cxnLst/>
            <a:rect l="l" t="t" r="r" b="b"/>
            <a:pathLst>
              <a:path w="3561172" h="4114800">
                <a:moveTo>
                  <a:pt x="0" y="0"/>
                </a:moveTo>
                <a:lnTo>
                  <a:pt x="3561172" y="0"/>
                </a:lnTo>
                <a:lnTo>
                  <a:pt x="356117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5193712" y="3510799"/>
            <a:ext cx="3848807" cy="4250690"/>
          </a:xfrm>
          <a:custGeom>
            <a:avLst/>
            <a:gdLst/>
            <a:ahLst/>
            <a:cxnLst/>
            <a:rect l="l" t="t" r="r" b="b"/>
            <a:pathLst>
              <a:path w="3848807" h="4250690">
                <a:moveTo>
                  <a:pt x="0" y="0"/>
                </a:moveTo>
                <a:lnTo>
                  <a:pt x="3848807" y="0"/>
                </a:lnTo>
                <a:lnTo>
                  <a:pt x="3848807" y="4250690"/>
                </a:lnTo>
                <a:lnTo>
                  <a:pt x="0" y="425069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9646358" y="9158737"/>
            <a:ext cx="3539193" cy="199127"/>
          </a:xfrm>
          <a:custGeom>
            <a:avLst/>
            <a:gdLst/>
            <a:ahLst/>
            <a:cxnLst/>
            <a:rect l="l" t="t" r="r" b="b"/>
            <a:pathLst>
              <a:path w="3539193" h="199127">
                <a:moveTo>
                  <a:pt x="0" y="0"/>
                </a:moveTo>
                <a:lnTo>
                  <a:pt x="3539193" y="0"/>
                </a:lnTo>
                <a:lnTo>
                  <a:pt x="3539193" y="199126"/>
                </a:lnTo>
                <a:lnTo>
                  <a:pt x="0" y="1991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a:off x="15305955" y="-1387689"/>
            <a:ext cx="7315200" cy="3616754"/>
          </a:xfrm>
          <a:custGeom>
            <a:avLst/>
            <a:gdLst/>
            <a:ahLst/>
            <a:cxnLst/>
            <a:rect l="l" t="t" r="r" b="b"/>
            <a:pathLst>
              <a:path w="7315200" h="3616754">
                <a:moveTo>
                  <a:pt x="0" y="0"/>
                </a:moveTo>
                <a:lnTo>
                  <a:pt x="7315200" y="0"/>
                </a:lnTo>
                <a:lnTo>
                  <a:pt x="7315200" y="3616754"/>
                </a:lnTo>
                <a:lnTo>
                  <a:pt x="0" y="361675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6" name="Freeform 6"/>
          <p:cNvSpPr/>
          <p:nvPr/>
        </p:nvSpPr>
        <p:spPr>
          <a:xfrm>
            <a:off x="-3835479" y="7390914"/>
            <a:ext cx="5472439" cy="3066788"/>
          </a:xfrm>
          <a:custGeom>
            <a:avLst/>
            <a:gdLst/>
            <a:ahLst/>
            <a:cxnLst/>
            <a:rect l="l" t="t" r="r" b="b"/>
            <a:pathLst>
              <a:path w="5472439" h="3066788">
                <a:moveTo>
                  <a:pt x="0" y="0"/>
                </a:moveTo>
                <a:lnTo>
                  <a:pt x="5472439" y="0"/>
                </a:lnTo>
                <a:lnTo>
                  <a:pt x="5472439" y="3066787"/>
                </a:lnTo>
                <a:lnTo>
                  <a:pt x="0" y="306678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7" name="Freeform 7"/>
          <p:cNvSpPr/>
          <p:nvPr/>
        </p:nvSpPr>
        <p:spPr>
          <a:xfrm>
            <a:off x="15305955" y="2571223"/>
            <a:ext cx="1833608" cy="1542523"/>
          </a:xfrm>
          <a:custGeom>
            <a:avLst/>
            <a:gdLst/>
            <a:ahLst/>
            <a:cxnLst/>
            <a:rect l="l" t="t" r="r" b="b"/>
            <a:pathLst>
              <a:path w="1833608" h="1542523">
                <a:moveTo>
                  <a:pt x="0" y="0"/>
                </a:moveTo>
                <a:lnTo>
                  <a:pt x="1833609" y="0"/>
                </a:lnTo>
                <a:lnTo>
                  <a:pt x="1833609" y="1542523"/>
                </a:lnTo>
                <a:lnTo>
                  <a:pt x="0" y="1542523"/>
                </a:lnTo>
                <a:lnTo>
                  <a:pt x="0" y="0"/>
                </a:lnTo>
                <a:close/>
              </a:path>
            </a:pathLst>
          </a:custGeom>
          <a:blipFill>
            <a:blip r:embed="rId12"/>
            <a:stretch>
              <a:fillRect/>
            </a:stretch>
          </a:blipFill>
        </p:spPr>
        <p:txBody>
          <a:bodyPr/>
          <a:lstStyle/>
          <a:p>
            <a:endParaRPr lang="en-US"/>
          </a:p>
        </p:txBody>
      </p:sp>
      <p:sp>
        <p:nvSpPr>
          <p:cNvPr id="8" name="TextBox 8"/>
          <p:cNvSpPr txBox="1"/>
          <p:nvPr/>
        </p:nvSpPr>
        <p:spPr>
          <a:xfrm>
            <a:off x="327033" y="211138"/>
            <a:ext cx="7829785" cy="1425574"/>
          </a:xfrm>
          <a:prstGeom prst="rect">
            <a:avLst/>
          </a:prstGeom>
        </p:spPr>
        <p:txBody>
          <a:bodyPr lIns="0" tIns="0" rIns="0" bIns="0" rtlCol="0" anchor="t">
            <a:spAutoFit/>
          </a:bodyPr>
          <a:lstStyle/>
          <a:p>
            <a:pPr algn="ctr">
              <a:lnSpc>
                <a:spcPts val="11200"/>
              </a:lnSpc>
            </a:pPr>
            <a:r>
              <a:rPr lang="en-US" sz="8000" b="1">
                <a:solidFill>
                  <a:srgbClr val="593EA1"/>
                </a:solidFill>
                <a:latin typeface="Bubblebody Neue Bold"/>
                <a:ea typeface="Bubblebody Neue Bold"/>
                <a:cs typeface="Bubblebody Neue Bold"/>
                <a:sym typeface="Bubblebody Neue Bold"/>
              </a:rPr>
              <a:t>Introduction</a:t>
            </a:r>
          </a:p>
        </p:txBody>
      </p:sp>
      <p:sp>
        <p:nvSpPr>
          <p:cNvPr id="9" name="TextBox 9"/>
          <p:cNvSpPr txBox="1"/>
          <p:nvPr/>
        </p:nvSpPr>
        <p:spPr>
          <a:xfrm>
            <a:off x="9646358" y="3453649"/>
            <a:ext cx="6825068" cy="4443730"/>
          </a:xfrm>
          <a:prstGeom prst="rect">
            <a:avLst/>
          </a:prstGeom>
        </p:spPr>
        <p:txBody>
          <a:bodyPr lIns="0" tIns="0" rIns="0" bIns="0" rtlCol="0" anchor="t">
            <a:spAutoFit/>
          </a:bodyPr>
          <a:lstStyle/>
          <a:p>
            <a:pPr algn="l">
              <a:lnSpc>
                <a:spcPts val="3919"/>
              </a:lnSpc>
            </a:pPr>
            <a:r>
              <a:rPr lang="en-US" sz="2799">
                <a:solidFill>
                  <a:srgbClr val="000000"/>
                </a:solidFill>
                <a:latin typeface="Canva Sans"/>
                <a:ea typeface="Canva Sans"/>
                <a:cs typeface="Canva Sans"/>
                <a:sym typeface="Canva Sans"/>
              </a:rPr>
              <a:t>Glioma is a type of brain tumor that arises from glial cells, which are the supportive cells in the central nervous system (CNS). Glial cells provide structure, protection, and support to neurons. Gliomas can occur in the brain or spinal cord and are among the most common types of brain tumors in adults and children.</a:t>
            </a:r>
          </a:p>
        </p:txBody>
      </p:sp>
      <p:sp>
        <p:nvSpPr>
          <p:cNvPr id="10" name="TextBox 10"/>
          <p:cNvSpPr txBox="1"/>
          <p:nvPr/>
        </p:nvSpPr>
        <p:spPr>
          <a:xfrm>
            <a:off x="8461774" y="2249308"/>
            <a:ext cx="5908362" cy="869058"/>
          </a:xfrm>
          <a:prstGeom prst="rect">
            <a:avLst/>
          </a:prstGeom>
        </p:spPr>
        <p:txBody>
          <a:bodyPr lIns="0" tIns="0" rIns="0" bIns="0" rtlCol="0" anchor="t">
            <a:spAutoFit/>
          </a:bodyPr>
          <a:lstStyle/>
          <a:p>
            <a:pPr algn="ctr">
              <a:lnSpc>
                <a:spcPts val="6863"/>
              </a:lnSpc>
              <a:spcBef>
                <a:spcPct val="0"/>
              </a:spcBef>
            </a:pPr>
            <a:r>
              <a:rPr lang="en-US" sz="4902" b="1">
                <a:solidFill>
                  <a:srgbClr val="000000"/>
                </a:solidFill>
                <a:latin typeface="Bubblebody Neue Bold"/>
                <a:ea typeface="Bubblebody Neue Bold"/>
                <a:cs typeface="Bubblebody Neue Bold"/>
                <a:sym typeface="Bubblebody Neue Bold"/>
              </a:rPr>
              <a:t>Glioma Brain Tumor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254718" y="3466932"/>
            <a:ext cx="3396115" cy="3371514"/>
            <a:chOff x="0" y="0"/>
            <a:chExt cx="894450" cy="887971"/>
          </a:xfrm>
        </p:grpSpPr>
        <p:sp>
          <p:nvSpPr>
            <p:cNvPr id="3" name="Freeform 3"/>
            <p:cNvSpPr/>
            <p:nvPr/>
          </p:nvSpPr>
          <p:spPr>
            <a:xfrm>
              <a:off x="0" y="0"/>
              <a:ext cx="894450" cy="887971"/>
            </a:xfrm>
            <a:custGeom>
              <a:avLst/>
              <a:gdLst/>
              <a:ahLst/>
              <a:cxnLst/>
              <a:rect l="l" t="t" r="r" b="b"/>
              <a:pathLst>
                <a:path w="894450" h="887971">
                  <a:moveTo>
                    <a:pt x="136778" y="0"/>
                  </a:moveTo>
                  <a:lnTo>
                    <a:pt x="757672" y="0"/>
                  </a:lnTo>
                  <a:cubicBezTo>
                    <a:pt x="833212" y="0"/>
                    <a:pt x="894450" y="61238"/>
                    <a:pt x="894450" y="136778"/>
                  </a:cubicBezTo>
                  <a:lnTo>
                    <a:pt x="894450" y="751192"/>
                  </a:lnTo>
                  <a:cubicBezTo>
                    <a:pt x="894450" y="787468"/>
                    <a:pt x="880040" y="822258"/>
                    <a:pt x="854389" y="847909"/>
                  </a:cubicBezTo>
                  <a:cubicBezTo>
                    <a:pt x="828738" y="873560"/>
                    <a:pt x="793948" y="887971"/>
                    <a:pt x="757672" y="887971"/>
                  </a:cubicBezTo>
                  <a:lnTo>
                    <a:pt x="136778" y="887971"/>
                  </a:lnTo>
                  <a:cubicBezTo>
                    <a:pt x="100503" y="887971"/>
                    <a:pt x="65712" y="873560"/>
                    <a:pt x="40061" y="847909"/>
                  </a:cubicBezTo>
                  <a:cubicBezTo>
                    <a:pt x="14411" y="822258"/>
                    <a:pt x="0" y="787468"/>
                    <a:pt x="0" y="751192"/>
                  </a:cubicBezTo>
                  <a:lnTo>
                    <a:pt x="0" y="136778"/>
                  </a:lnTo>
                  <a:cubicBezTo>
                    <a:pt x="0" y="100503"/>
                    <a:pt x="14411" y="65712"/>
                    <a:pt x="40061" y="40061"/>
                  </a:cubicBezTo>
                  <a:cubicBezTo>
                    <a:pt x="65712" y="14411"/>
                    <a:pt x="100503" y="0"/>
                    <a:pt x="136778" y="0"/>
                  </a:cubicBezTo>
                  <a:close/>
                </a:path>
              </a:pathLst>
            </a:custGeom>
            <a:solidFill>
              <a:srgbClr val="593EA1"/>
            </a:solidFill>
            <a:ln cap="rnd">
              <a:noFill/>
              <a:prstDash val="solid"/>
              <a:round/>
            </a:ln>
          </p:spPr>
          <p:txBody>
            <a:bodyPr/>
            <a:lstStyle/>
            <a:p>
              <a:endParaRPr lang="en-US"/>
            </a:p>
          </p:txBody>
        </p:sp>
        <p:sp>
          <p:nvSpPr>
            <p:cNvPr id="4" name="TextBox 4"/>
            <p:cNvSpPr txBox="1"/>
            <p:nvPr/>
          </p:nvSpPr>
          <p:spPr>
            <a:xfrm>
              <a:off x="0" y="-38100"/>
              <a:ext cx="894450" cy="92607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399471" y="3591962"/>
            <a:ext cx="3149634" cy="3188129"/>
            <a:chOff x="0" y="0"/>
            <a:chExt cx="829533" cy="839672"/>
          </a:xfrm>
        </p:grpSpPr>
        <p:sp>
          <p:nvSpPr>
            <p:cNvPr id="6" name="Freeform 6"/>
            <p:cNvSpPr/>
            <p:nvPr/>
          </p:nvSpPr>
          <p:spPr>
            <a:xfrm>
              <a:off x="0" y="0"/>
              <a:ext cx="829533" cy="839672"/>
            </a:xfrm>
            <a:custGeom>
              <a:avLst/>
              <a:gdLst/>
              <a:ahLst/>
              <a:cxnLst/>
              <a:rect l="l" t="t" r="r" b="b"/>
              <a:pathLst>
                <a:path w="829533" h="839672">
                  <a:moveTo>
                    <a:pt x="147482" y="0"/>
                  </a:moveTo>
                  <a:lnTo>
                    <a:pt x="682051" y="0"/>
                  </a:lnTo>
                  <a:cubicBezTo>
                    <a:pt x="721166" y="0"/>
                    <a:pt x="758678" y="15538"/>
                    <a:pt x="786337" y="43197"/>
                  </a:cubicBezTo>
                  <a:cubicBezTo>
                    <a:pt x="813995" y="70855"/>
                    <a:pt x="829533" y="108368"/>
                    <a:pt x="829533" y="147482"/>
                  </a:cubicBezTo>
                  <a:lnTo>
                    <a:pt x="829533" y="692190"/>
                  </a:lnTo>
                  <a:cubicBezTo>
                    <a:pt x="829533" y="773642"/>
                    <a:pt x="763503" y="839672"/>
                    <a:pt x="682051" y="839672"/>
                  </a:cubicBezTo>
                  <a:lnTo>
                    <a:pt x="147482" y="839672"/>
                  </a:lnTo>
                  <a:cubicBezTo>
                    <a:pt x="108368" y="839672"/>
                    <a:pt x="70855" y="824134"/>
                    <a:pt x="43197" y="796475"/>
                  </a:cubicBezTo>
                  <a:cubicBezTo>
                    <a:pt x="15538" y="768817"/>
                    <a:pt x="0" y="731304"/>
                    <a:pt x="0" y="692190"/>
                  </a:cubicBezTo>
                  <a:lnTo>
                    <a:pt x="0" y="147482"/>
                  </a:lnTo>
                  <a:cubicBezTo>
                    <a:pt x="0" y="108368"/>
                    <a:pt x="15538" y="70855"/>
                    <a:pt x="43197" y="43197"/>
                  </a:cubicBezTo>
                  <a:cubicBezTo>
                    <a:pt x="70855" y="15538"/>
                    <a:pt x="108368" y="0"/>
                    <a:pt x="147482" y="0"/>
                  </a:cubicBezTo>
                  <a:close/>
                </a:path>
              </a:pathLst>
            </a:custGeom>
            <a:solidFill>
              <a:srgbClr val="FFFDF9"/>
            </a:solidFill>
            <a:ln w="38100" cap="rnd">
              <a:solidFill>
                <a:srgbClr val="593EA1"/>
              </a:solidFill>
              <a:prstDash val="solid"/>
              <a:round/>
            </a:ln>
          </p:spPr>
          <p:txBody>
            <a:bodyPr/>
            <a:lstStyle/>
            <a:p>
              <a:endParaRPr lang="en-US"/>
            </a:p>
          </p:txBody>
        </p:sp>
        <p:sp>
          <p:nvSpPr>
            <p:cNvPr id="7" name="TextBox 7"/>
            <p:cNvSpPr txBox="1"/>
            <p:nvPr/>
          </p:nvSpPr>
          <p:spPr>
            <a:xfrm>
              <a:off x="0" y="-38100"/>
              <a:ext cx="829533" cy="87777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8734400" y="3466932"/>
            <a:ext cx="3391115" cy="3149634"/>
            <a:chOff x="0" y="0"/>
            <a:chExt cx="893133" cy="829533"/>
          </a:xfrm>
        </p:grpSpPr>
        <p:sp>
          <p:nvSpPr>
            <p:cNvPr id="9" name="Freeform 9"/>
            <p:cNvSpPr/>
            <p:nvPr/>
          </p:nvSpPr>
          <p:spPr>
            <a:xfrm>
              <a:off x="0" y="0"/>
              <a:ext cx="893133" cy="829533"/>
            </a:xfrm>
            <a:custGeom>
              <a:avLst/>
              <a:gdLst/>
              <a:ahLst/>
              <a:cxnLst/>
              <a:rect l="l" t="t" r="r" b="b"/>
              <a:pathLst>
                <a:path w="893133" h="829533">
                  <a:moveTo>
                    <a:pt x="136980" y="0"/>
                  </a:moveTo>
                  <a:lnTo>
                    <a:pt x="756153" y="0"/>
                  </a:lnTo>
                  <a:cubicBezTo>
                    <a:pt x="792483" y="0"/>
                    <a:pt x="827324" y="14432"/>
                    <a:pt x="853013" y="40121"/>
                  </a:cubicBezTo>
                  <a:cubicBezTo>
                    <a:pt x="878702" y="65809"/>
                    <a:pt x="893133" y="100651"/>
                    <a:pt x="893133" y="136980"/>
                  </a:cubicBezTo>
                  <a:lnTo>
                    <a:pt x="893133" y="692553"/>
                  </a:lnTo>
                  <a:cubicBezTo>
                    <a:pt x="893133" y="728882"/>
                    <a:pt x="878702" y="763724"/>
                    <a:pt x="853013" y="789413"/>
                  </a:cubicBezTo>
                  <a:cubicBezTo>
                    <a:pt x="827324" y="815101"/>
                    <a:pt x="792483" y="829533"/>
                    <a:pt x="756153" y="829533"/>
                  </a:cubicBezTo>
                  <a:lnTo>
                    <a:pt x="136980" y="829533"/>
                  </a:lnTo>
                  <a:cubicBezTo>
                    <a:pt x="100651" y="829533"/>
                    <a:pt x="65809" y="815101"/>
                    <a:pt x="40121" y="789413"/>
                  </a:cubicBezTo>
                  <a:cubicBezTo>
                    <a:pt x="14432" y="763724"/>
                    <a:pt x="0" y="728882"/>
                    <a:pt x="0" y="692553"/>
                  </a:cubicBezTo>
                  <a:lnTo>
                    <a:pt x="0" y="136980"/>
                  </a:lnTo>
                  <a:cubicBezTo>
                    <a:pt x="0" y="100651"/>
                    <a:pt x="14432" y="65809"/>
                    <a:pt x="40121" y="40121"/>
                  </a:cubicBezTo>
                  <a:cubicBezTo>
                    <a:pt x="65809" y="14432"/>
                    <a:pt x="100651" y="0"/>
                    <a:pt x="136980" y="0"/>
                  </a:cubicBezTo>
                  <a:close/>
                </a:path>
              </a:pathLst>
            </a:custGeom>
            <a:solidFill>
              <a:srgbClr val="593EA1"/>
            </a:solidFill>
            <a:ln cap="rnd">
              <a:noFill/>
              <a:prstDash val="solid"/>
              <a:round/>
            </a:ln>
          </p:spPr>
          <p:txBody>
            <a:bodyPr/>
            <a:lstStyle/>
            <a:p>
              <a:endParaRPr lang="en-US"/>
            </a:p>
          </p:txBody>
        </p:sp>
        <p:sp>
          <p:nvSpPr>
            <p:cNvPr id="10" name="TextBox 10"/>
            <p:cNvSpPr txBox="1"/>
            <p:nvPr/>
          </p:nvSpPr>
          <p:spPr>
            <a:xfrm>
              <a:off x="0" y="-38100"/>
              <a:ext cx="893133" cy="867633"/>
            </a:xfrm>
            <a:prstGeom prst="rect">
              <a:avLst/>
            </a:prstGeom>
          </p:spPr>
          <p:txBody>
            <a:bodyPr lIns="50800" tIns="50800" rIns="50800" bIns="50800" rtlCol="0" anchor="ctr"/>
            <a:lstStyle/>
            <a:p>
              <a:pPr algn="ctr">
                <a:lnSpc>
                  <a:spcPts val="2659"/>
                </a:lnSpc>
              </a:pPr>
              <a:endParaRPr/>
            </a:p>
          </p:txBody>
        </p:sp>
      </p:grpSp>
      <p:sp>
        <p:nvSpPr>
          <p:cNvPr id="11" name="AutoShape 11"/>
          <p:cNvSpPr/>
          <p:nvPr/>
        </p:nvSpPr>
        <p:spPr>
          <a:xfrm>
            <a:off x="3650833" y="5152689"/>
            <a:ext cx="2323454" cy="1627402"/>
          </a:xfrm>
          <a:prstGeom prst="line">
            <a:avLst/>
          </a:prstGeom>
          <a:ln w="66675" cap="flat">
            <a:solidFill>
              <a:srgbClr val="593EA1"/>
            </a:solidFill>
            <a:prstDash val="sysDash"/>
            <a:headEnd type="none" w="sm" len="sm"/>
            <a:tailEnd type="none" w="sm" len="sm"/>
          </a:ln>
        </p:spPr>
        <p:txBody>
          <a:bodyPr/>
          <a:lstStyle/>
          <a:p>
            <a:endParaRPr lang="en-US"/>
          </a:p>
        </p:txBody>
      </p:sp>
      <p:sp>
        <p:nvSpPr>
          <p:cNvPr id="12" name="AutoShape 12"/>
          <p:cNvSpPr/>
          <p:nvPr/>
        </p:nvSpPr>
        <p:spPr>
          <a:xfrm>
            <a:off x="7549104" y="5186027"/>
            <a:ext cx="2880853" cy="1430539"/>
          </a:xfrm>
          <a:prstGeom prst="line">
            <a:avLst/>
          </a:prstGeom>
          <a:ln w="66675" cap="flat">
            <a:solidFill>
              <a:srgbClr val="593EA1"/>
            </a:solidFill>
            <a:prstDash val="sysDash"/>
            <a:headEnd type="none" w="sm" len="sm"/>
            <a:tailEnd type="none" w="sm" len="sm"/>
          </a:ln>
        </p:spPr>
        <p:txBody>
          <a:bodyPr/>
          <a:lstStyle/>
          <a:p>
            <a:endParaRPr lang="en-US"/>
          </a:p>
        </p:txBody>
      </p:sp>
      <p:sp>
        <p:nvSpPr>
          <p:cNvPr id="13" name="TextBox 13"/>
          <p:cNvSpPr txBox="1"/>
          <p:nvPr/>
        </p:nvSpPr>
        <p:spPr>
          <a:xfrm>
            <a:off x="3365152" y="819150"/>
            <a:ext cx="11557696" cy="1235210"/>
          </a:xfrm>
          <a:prstGeom prst="rect">
            <a:avLst/>
          </a:prstGeom>
        </p:spPr>
        <p:txBody>
          <a:bodyPr lIns="0" tIns="0" rIns="0" bIns="0" rtlCol="0" anchor="t">
            <a:spAutoFit/>
          </a:bodyPr>
          <a:lstStyle/>
          <a:p>
            <a:pPr algn="ctr">
              <a:lnSpc>
                <a:spcPts val="11200"/>
              </a:lnSpc>
            </a:pPr>
            <a:r>
              <a:rPr lang="en-US" sz="8000" b="1">
                <a:solidFill>
                  <a:srgbClr val="593EA1"/>
                </a:solidFill>
                <a:latin typeface="Bubblebody Neue Bold"/>
                <a:ea typeface="Bubblebody Neue Bold"/>
                <a:cs typeface="Bubblebody Neue Bold"/>
                <a:sym typeface="Bubblebody Neue Bold"/>
              </a:rPr>
              <a:t> Types </a:t>
            </a:r>
            <a:r>
              <a:rPr lang="en-US" sz="8000" b="1" dirty="0">
                <a:solidFill>
                  <a:srgbClr val="593EA1"/>
                </a:solidFill>
                <a:latin typeface="Bubblebody Neue Bold"/>
                <a:ea typeface="Bubblebody Neue Bold"/>
                <a:cs typeface="Bubblebody Neue Bold"/>
                <a:sym typeface="Bubblebody Neue Bold"/>
              </a:rPr>
              <a:t>of Gliomas</a:t>
            </a:r>
          </a:p>
        </p:txBody>
      </p:sp>
      <p:sp>
        <p:nvSpPr>
          <p:cNvPr id="14" name="Freeform 14"/>
          <p:cNvSpPr/>
          <p:nvPr/>
        </p:nvSpPr>
        <p:spPr>
          <a:xfrm rot="-5820136">
            <a:off x="15909502" y="-889967"/>
            <a:ext cx="3597844" cy="4114800"/>
          </a:xfrm>
          <a:custGeom>
            <a:avLst/>
            <a:gdLst/>
            <a:ahLst/>
            <a:cxnLst/>
            <a:rect l="l" t="t" r="r" b="b"/>
            <a:pathLst>
              <a:path w="3597844" h="4114800">
                <a:moveTo>
                  <a:pt x="0" y="0"/>
                </a:moveTo>
                <a:lnTo>
                  <a:pt x="3597844" y="0"/>
                </a:lnTo>
                <a:lnTo>
                  <a:pt x="359784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5" name="Freeform 15"/>
          <p:cNvSpPr/>
          <p:nvPr/>
        </p:nvSpPr>
        <p:spPr>
          <a:xfrm flipH="1">
            <a:off x="-2736219" y="-365961"/>
            <a:ext cx="5472439" cy="3066788"/>
          </a:xfrm>
          <a:custGeom>
            <a:avLst/>
            <a:gdLst/>
            <a:ahLst/>
            <a:cxnLst/>
            <a:rect l="l" t="t" r="r" b="b"/>
            <a:pathLst>
              <a:path w="5472439" h="3066788">
                <a:moveTo>
                  <a:pt x="5472438" y="0"/>
                </a:moveTo>
                <a:lnTo>
                  <a:pt x="0" y="0"/>
                </a:lnTo>
                <a:lnTo>
                  <a:pt x="0" y="3066788"/>
                </a:lnTo>
                <a:lnTo>
                  <a:pt x="5472438" y="3066788"/>
                </a:lnTo>
                <a:lnTo>
                  <a:pt x="5472438"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6" name="Group 16"/>
          <p:cNvGrpSpPr/>
          <p:nvPr/>
        </p:nvGrpSpPr>
        <p:grpSpPr>
          <a:xfrm>
            <a:off x="13306615" y="3428437"/>
            <a:ext cx="3149634" cy="3188129"/>
            <a:chOff x="0" y="0"/>
            <a:chExt cx="829533" cy="839672"/>
          </a:xfrm>
        </p:grpSpPr>
        <p:sp>
          <p:nvSpPr>
            <p:cNvPr id="17" name="Freeform 17"/>
            <p:cNvSpPr/>
            <p:nvPr/>
          </p:nvSpPr>
          <p:spPr>
            <a:xfrm>
              <a:off x="0" y="0"/>
              <a:ext cx="829533" cy="839672"/>
            </a:xfrm>
            <a:custGeom>
              <a:avLst/>
              <a:gdLst/>
              <a:ahLst/>
              <a:cxnLst/>
              <a:rect l="l" t="t" r="r" b="b"/>
              <a:pathLst>
                <a:path w="829533" h="839672">
                  <a:moveTo>
                    <a:pt x="147482" y="0"/>
                  </a:moveTo>
                  <a:lnTo>
                    <a:pt x="682051" y="0"/>
                  </a:lnTo>
                  <a:cubicBezTo>
                    <a:pt x="721166" y="0"/>
                    <a:pt x="758678" y="15538"/>
                    <a:pt x="786337" y="43197"/>
                  </a:cubicBezTo>
                  <a:cubicBezTo>
                    <a:pt x="813995" y="70855"/>
                    <a:pt x="829533" y="108368"/>
                    <a:pt x="829533" y="147482"/>
                  </a:cubicBezTo>
                  <a:lnTo>
                    <a:pt x="829533" y="692190"/>
                  </a:lnTo>
                  <a:cubicBezTo>
                    <a:pt x="829533" y="773642"/>
                    <a:pt x="763503" y="839672"/>
                    <a:pt x="682051" y="839672"/>
                  </a:cubicBezTo>
                  <a:lnTo>
                    <a:pt x="147482" y="839672"/>
                  </a:lnTo>
                  <a:cubicBezTo>
                    <a:pt x="108368" y="839672"/>
                    <a:pt x="70855" y="824134"/>
                    <a:pt x="43197" y="796475"/>
                  </a:cubicBezTo>
                  <a:cubicBezTo>
                    <a:pt x="15538" y="768817"/>
                    <a:pt x="0" y="731304"/>
                    <a:pt x="0" y="692190"/>
                  </a:cubicBezTo>
                  <a:lnTo>
                    <a:pt x="0" y="147482"/>
                  </a:lnTo>
                  <a:cubicBezTo>
                    <a:pt x="0" y="108368"/>
                    <a:pt x="15538" y="70855"/>
                    <a:pt x="43197" y="43197"/>
                  </a:cubicBezTo>
                  <a:cubicBezTo>
                    <a:pt x="70855" y="15538"/>
                    <a:pt x="108368" y="0"/>
                    <a:pt x="147482" y="0"/>
                  </a:cubicBezTo>
                  <a:close/>
                </a:path>
              </a:pathLst>
            </a:custGeom>
            <a:solidFill>
              <a:srgbClr val="FFFDF9"/>
            </a:solidFill>
            <a:ln w="38100" cap="rnd">
              <a:solidFill>
                <a:srgbClr val="593EA1"/>
              </a:solidFill>
              <a:prstDash val="solid"/>
              <a:round/>
            </a:ln>
          </p:spPr>
          <p:txBody>
            <a:bodyPr/>
            <a:lstStyle/>
            <a:p>
              <a:endParaRPr lang="en-US"/>
            </a:p>
          </p:txBody>
        </p:sp>
        <p:sp>
          <p:nvSpPr>
            <p:cNvPr id="18" name="TextBox 18"/>
            <p:cNvSpPr txBox="1"/>
            <p:nvPr/>
          </p:nvSpPr>
          <p:spPr>
            <a:xfrm>
              <a:off x="0" y="-38100"/>
              <a:ext cx="829533" cy="877772"/>
            </a:xfrm>
            <a:prstGeom prst="rect">
              <a:avLst/>
            </a:prstGeom>
          </p:spPr>
          <p:txBody>
            <a:bodyPr lIns="50800" tIns="50800" rIns="50800" bIns="50800" rtlCol="0" anchor="ctr"/>
            <a:lstStyle/>
            <a:p>
              <a:pPr algn="ctr">
                <a:lnSpc>
                  <a:spcPts val="2659"/>
                </a:lnSpc>
              </a:pPr>
              <a:endParaRPr/>
            </a:p>
          </p:txBody>
        </p:sp>
      </p:grpSp>
      <p:sp>
        <p:nvSpPr>
          <p:cNvPr id="19" name="AutoShape 19"/>
          <p:cNvSpPr/>
          <p:nvPr/>
        </p:nvSpPr>
        <p:spPr>
          <a:xfrm>
            <a:off x="12008657" y="5219364"/>
            <a:ext cx="2880853" cy="1430539"/>
          </a:xfrm>
          <a:prstGeom prst="line">
            <a:avLst/>
          </a:prstGeom>
          <a:ln w="66675" cap="flat">
            <a:solidFill>
              <a:srgbClr val="593EA1"/>
            </a:solidFill>
            <a:prstDash val="sysDash"/>
            <a:headEnd type="none" w="sm" len="sm"/>
            <a:tailEnd type="none" w="sm" len="sm"/>
          </a:ln>
        </p:spPr>
        <p:txBody>
          <a:bodyPr/>
          <a:lstStyle/>
          <a:p>
            <a:endParaRPr lang="en-US"/>
          </a:p>
        </p:txBody>
      </p:sp>
      <p:sp>
        <p:nvSpPr>
          <p:cNvPr id="20" name="TextBox 20"/>
          <p:cNvSpPr txBox="1"/>
          <p:nvPr/>
        </p:nvSpPr>
        <p:spPr>
          <a:xfrm>
            <a:off x="634790" y="4834180"/>
            <a:ext cx="2635971" cy="584546"/>
          </a:xfrm>
          <a:prstGeom prst="rect">
            <a:avLst/>
          </a:prstGeom>
        </p:spPr>
        <p:txBody>
          <a:bodyPr lIns="0" tIns="0" rIns="0" bIns="0" rtlCol="0" anchor="t">
            <a:spAutoFit/>
          </a:bodyPr>
          <a:lstStyle/>
          <a:p>
            <a:pPr algn="ctr">
              <a:lnSpc>
                <a:spcPts val="4506"/>
              </a:lnSpc>
              <a:spcBef>
                <a:spcPct val="0"/>
              </a:spcBef>
            </a:pPr>
            <a:r>
              <a:rPr lang="en-US" sz="3218" b="1">
                <a:solidFill>
                  <a:srgbClr val="FFFFFF"/>
                </a:solidFill>
                <a:latin typeface="Bubblebody Neue Bold"/>
                <a:ea typeface="Bubblebody Neue Bold"/>
                <a:cs typeface="Bubblebody Neue Bold"/>
                <a:sym typeface="Bubblebody Neue Bold"/>
              </a:rPr>
              <a:t>Astrocytomas</a:t>
            </a:r>
          </a:p>
        </p:txBody>
      </p:sp>
      <p:sp>
        <p:nvSpPr>
          <p:cNvPr id="21" name="TextBox 21"/>
          <p:cNvSpPr txBox="1"/>
          <p:nvPr/>
        </p:nvSpPr>
        <p:spPr>
          <a:xfrm rot="2339339">
            <a:off x="4207951" y="4847231"/>
            <a:ext cx="3586609" cy="544286"/>
          </a:xfrm>
          <a:prstGeom prst="rect">
            <a:avLst/>
          </a:prstGeom>
        </p:spPr>
        <p:txBody>
          <a:bodyPr lIns="0" tIns="0" rIns="0" bIns="0" rtlCol="0" anchor="t">
            <a:spAutoFit/>
          </a:bodyPr>
          <a:lstStyle/>
          <a:p>
            <a:pPr algn="ctr">
              <a:lnSpc>
                <a:spcPts val="4223"/>
              </a:lnSpc>
              <a:spcBef>
                <a:spcPct val="0"/>
              </a:spcBef>
            </a:pPr>
            <a:r>
              <a:rPr lang="en-US" sz="3016" b="1">
                <a:solidFill>
                  <a:srgbClr val="000000"/>
                </a:solidFill>
                <a:latin typeface="Bubblebody Neue Bold"/>
                <a:ea typeface="Bubblebody Neue Bold"/>
                <a:cs typeface="Bubblebody Neue Bold"/>
                <a:sym typeface="Bubblebody Neue Bold"/>
              </a:rPr>
              <a:t>Oligodendrogliomas</a:t>
            </a:r>
          </a:p>
        </p:txBody>
      </p:sp>
      <p:sp>
        <p:nvSpPr>
          <p:cNvPr id="22" name="TextBox 22"/>
          <p:cNvSpPr txBox="1"/>
          <p:nvPr/>
        </p:nvSpPr>
        <p:spPr>
          <a:xfrm>
            <a:off x="8922648" y="4834180"/>
            <a:ext cx="3010423" cy="627398"/>
          </a:xfrm>
          <a:prstGeom prst="rect">
            <a:avLst/>
          </a:prstGeom>
        </p:spPr>
        <p:txBody>
          <a:bodyPr lIns="0" tIns="0" rIns="0" bIns="0" rtlCol="0" anchor="t">
            <a:spAutoFit/>
          </a:bodyPr>
          <a:lstStyle/>
          <a:p>
            <a:pPr algn="ctr">
              <a:lnSpc>
                <a:spcPts val="4901"/>
              </a:lnSpc>
              <a:spcBef>
                <a:spcPct val="0"/>
              </a:spcBef>
            </a:pPr>
            <a:r>
              <a:rPr lang="en-US" sz="3500" b="1">
                <a:solidFill>
                  <a:srgbClr val="FFFFFF"/>
                </a:solidFill>
                <a:latin typeface="Bubblebody Neue Bold"/>
                <a:ea typeface="Bubblebody Neue Bold"/>
                <a:cs typeface="Bubblebody Neue Bold"/>
                <a:sym typeface="Bubblebody Neue Bold"/>
              </a:rPr>
              <a:t>Ependymomas</a:t>
            </a:r>
          </a:p>
        </p:txBody>
      </p:sp>
      <p:sp>
        <p:nvSpPr>
          <p:cNvPr id="23" name="TextBox 23"/>
          <p:cNvSpPr txBox="1"/>
          <p:nvPr/>
        </p:nvSpPr>
        <p:spPr>
          <a:xfrm rot="2434761">
            <a:off x="13302871" y="4856911"/>
            <a:ext cx="3326038" cy="515303"/>
          </a:xfrm>
          <a:prstGeom prst="rect">
            <a:avLst/>
          </a:prstGeom>
        </p:spPr>
        <p:txBody>
          <a:bodyPr lIns="0" tIns="0" rIns="0" bIns="0" rtlCol="0" anchor="t">
            <a:spAutoFit/>
          </a:bodyPr>
          <a:lstStyle/>
          <a:p>
            <a:pPr algn="ctr">
              <a:lnSpc>
                <a:spcPts val="4044"/>
              </a:lnSpc>
              <a:spcBef>
                <a:spcPct val="0"/>
              </a:spcBef>
            </a:pPr>
            <a:r>
              <a:rPr lang="en-US" sz="2888" b="1">
                <a:solidFill>
                  <a:srgbClr val="000000"/>
                </a:solidFill>
                <a:latin typeface="Bubblebody Neue Bold"/>
                <a:ea typeface="Bubblebody Neue Bold"/>
                <a:cs typeface="Bubblebody Neue Bold"/>
                <a:sym typeface="Bubblebody Neue Bold"/>
              </a:rPr>
              <a:t>Glioblastoma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TextBox 2"/>
          <p:cNvSpPr txBox="1"/>
          <p:nvPr/>
        </p:nvSpPr>
        <p:spPr>
          <a:xfrm>
            <a:off x="3365152" y="819150"/>
            <a:ext cx="11557696" cy="1425574"/>
          </a:xfrm>
          <a:prstGeom prst="rect">
            <a:avLst/>
          </a:prstGeom>
        </p:spPr>
        <p:txBody>
          <a:bodyPr lIns="0" tIns="0" rIns="0" bIns="0" rtlCol="0" anchor="t">
            <a:spAutoFit/>
          </a:bodyPr>
          <a:lstStyle/>
          <a:p>
            <a:pPr algn="ctr">
              <a:lnSpc>
                <a:spcPts val="11200"/>
              </a:lnSpc>
            </a:pPr>
            <a:r>
              <a:rPr lang="en-US" sz="8000" b="1">
                <a:solidFill>
                  <a:srgbClr val="593EA1"/>
                </a:solidFill>
                <a:latin typeface="Bubblebody Neue Bold"/>
                <a:ea typeface="Bubblebody Neue Bold"/>
                <a:cs typeface="Bubblebody Neue Bold"/>
                <a:sym typeface="Bubblebody Neue Bold"/>
              </a:rPr>
              <a:t>Grades of Glioma</a:t>
            </a:r>
          </a:p>
        </p:txBody>
      </p:sp>
      <p:sp>
        <p:nvSpPr>
          <p:cNvPr id="3" name="TextBox 3"/>
          <p:cNvSpPr txBox="1"/>
          <p:nvPr/>
        </p:nvSpPr>
        <p:spPr>
          <a:xfrm>
            <a:off x="893915" y="2954917"/>
            <a:ext cx="4942474" cy="6107125"/>
          </a:xfrm>
          <a:prstGeom prst="rect">
            <a:avLst/>
          </a:prstGeom>
        </p:spPr>
        <p:txBody>
          <a:bodyPr lIns="0" tIns="0" rIns="0" bIns="0" rtlCol="0" anchor="t">
            <a:spAutoFit/>
          </a:bodyPr>
          <a:lstStyle/>
          <a:p>
            <a:pPr algn="l">
              <a:lnSpc>
                <a:spcPts val="2689"/>
              </a:lnSpc>
            </a:pPr>
            <a:r>
              <a:rPr lang="en-US" sz="1921">
                <a:solidFill>
                  <a:srgbClr val="000000"/>
                </a:solidFill>
                <a:latin typeface="Canva Sans"/>
                <a:ea typeface="Canva Sans"/>
                <a:cs typeface="Canva Sans"/>
                <a:sym typeface="Canva Sans"/>
              </a:rPr>
              <a:t>Grade I (Low-Grade): Slow-growing, often well-defined tumors with a good prognosis if treated early.</a:t>
            </a:r>
          </a:p>
          <a:p>
            <a:pPr algn="l">
              <a:lnSpc>
                <a:spcPts val="2689"/>
              </a:lnSpc>
            </a:pPr>
            <a:endParaRPr lang="en-US" sz="1921">
              <a:solidFill>
                <a:srgbClr val="000000"/>
              </a:solidFill>
              <a:latin typeface="Canva Sans"/>
              <a:ea typeface="Canva Sans"/>
              <a:cs typeface="Canva Sans"/>
              <a:sym typeface="Canva Sans"/>
            </a:endParaRPr>
          </a:p>
          <a:p>
            <a:pPr algn="l">
              <a:lnSpc>
                <a:spcPts val="2689"/>
              </a:lnSpc>
            </a:pPr>
            <a:r>
              <a:rPr lang="en-US" sz="1921">
                <a:solidFill>
                  <a:srgbClr val="000000"/>
                </a:solidFill>
                <a:latin typeface="Canva Sans"/>
                <a:ea typeface="Canva Sans"/>
                <a:cs typeface="Canva Sans"/>
                <a:sym typeface="Canva Sans"/>
              </a:rPr>
              <a:t>Grade II (Low-Grade Diffuse): Infiltrative tumors that may transform into higher-grade gliomas over time.</a:t>
            </a:r>
          </a:p>
          <a:p>
            <a:pPr algn="l">
              <a:lnSpc>
                <a:spcPts val="2689"/>
              </a:lnSpc>
            </a:pPr>
            <a:endParaRPr lang="en-US" sz="1921">
              <a:solidFill>
                <a:srgbClr val="000000"/>
              </a:solidFill>
              <a:latin typeface="Canva Sans"/>
              <a:ea typeface="Canva Sans"/>
              <a:cs typeface="Canva Sans"/>
              <a:sym typeface="Canva Sans"/>
            </a:endParaRPr>
          </a:p>
          <a:p>
            <a:pPr algn="l">
              <a:lnSpc>
                <a:spcPts val="2689"/>
              </a:lnSpc>
            </a:pPr>
            <a:r>
              <a:rPr lang="en-US" sz="1921">
                <a:solidFill>
                  <a:srgbClr val="000000"/>
                </a:solidFill>
                <a:latin typeface="Canva Sans"/>
                <a:ea typeface="Canva Sans"/>
                <a:cs typeface="Canva Sans"/>
                <a:sym typeface="Canva Sans"/>
              </a:rPr>
              <a:t>Grade III (Anaplastic): Malignant tumors that grow more rapidly and have a higher potential for recurrence.</a:t>
            </a:r>
          </a:p>
          <a:p>
            <a:pPr algn="l">
              <a:lnSpc>
                <a:spcPts val="2689"/>
              </a:lnSpc>
            </a:pPr>
            <a:endParaRPr lang="en-US" sz="1921">
              <a:solidFill>
                <a:srgbClr val="000000"/>
              </a:solidFill>
              <a:latin typeface="Canva Sans"/>
              <a:ea typeface="Canva Sans"/>
              <a:cs typeface="Canva Sans"/>
              <a:sym typeface="Canva Sans"/>
            </a:endParaRPr>
          </a:p>
          <a:p>
            <a:pPr algn="l">
              <a:lnSpc>
                <a:spcPts val="2689"/>
              </a:lnSpc>
            </a:pPr>
            <a:endParaRPr lang="en-US" sz="1921">
              <a:solidFill>
                <a:srgbClr val="000000"/>
              </a:solidFill>
              <a:latin typeface="Canva Sans"/>
              <a:ea typeface="Canva Sans"/>
              <a:cs typeface="Canva Sans"/>
              <a:sym typeface="Canva Sans"/>
            </a:endParaRPr>
          </a:p>
          <a:p>
            <a:pPr algn="l">
              <a:lnSpc>
                <a:spcPts val="2689"/>
              </a:lnSpc>
            </a:pPr>
            <a:r>
              <a:rPr lang="en-US" sz="1921">
                <a:solidFill>
                  <a:srgbClr val="000000"/>
                </a:solidFill>
                <a:latin typeface="Canva Sans"/>
                <a:ea typeface="Canva Sans"/>
                <a:cs typeface="Canva Sans"/>
                <a:sym typeface="Canva Sans"/>
              </a:rPr>
              <a:t>Grade IV (Glioblastoma): Highly aggressive and lethal tumors, characterized by rapid growth, and extensive infiltration into surrounding brain tissue, leading to a poor prognosis.</a:t>
            </a:r>
          </a:p>
        </p:txBody>
      </p:sp>
      <p:pic>
        <p:nvPicPr>
          <p:cNvPr id="4" name="Picture 4"/>
          <p:cNvPicPr>
            <a:picLocks noChangeAspect="1"/>
          </p:cNvPicPr>
          <p:nvPr/>
        </p:nvPicPr>
        <p:blipFill>
          <a:blip r:embed="rId2"/>
          <a:stretch>
            <a:fillRect/>
          </a:stretch>
        </p:blipFill>
        <p:spPr>
          <a:xfrm>
            <a:off x="7748691" y="2156700"/>
            <a:ext cx="10035800" cy="7537236"/>
          </a:xfrm>
          <a:prstGeom prst="rect">
            <a:avLst/>
          </a:prstGeom>
        </p:spPr>
      </p:pic>
      <p:sp>
        <p:nvSpPr>
          <p:cNvPr id="5" name="Freeform 5"/>
          <p:cNvSpPr/>
          <p:nvPr/>
        </p:nvSpPr>
        <p:spPr>
          <a:xfrm>
            <a:off x="1304784" y="9158737"/>
            <a:ext cx="3539193" cy="199127"/>
          </a:xfrm>
          <a:custGeom>
            <a:avLst/>
            <a:gdLst/>
            <a:ahLst/>
            <a:cxnLst/>
            <a:rect l="l" t="t" r="r" b="b"/>
            <a:pathLst>
              <a:path w="3539193" h="199127">
                <a:moveTo>
                  <a:pt x="0" y="0"/>
                </a:moveTo>
                <a:lnTo>
                  <a:pt x="3539192" y="0"/>
                </a:lnTo>
                <a:lnTo>
                  <a:pt x="3539192" y="199126"/>
                </a:lnTo>
                <a:lnTo>
                  <a:pt x="0" y="19912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5820136">
            <a:off x="15909502" y="-889967"/>
            <a:ext cx="3597844" cy="4114800"/>
          </a:xfrm>
          <a:custGeom>
            <a:avLst/>
            <a:gdLst/>
            <a:ahLst/>
            <a:cxnLst/>
            <a:rect l="l" t="t" r="r" b="b"/>
            <a:pathLst>
              <a:path w="3597844" h="4114800">
                <a:moveTo>
                  <a:pt x="0" y="0"/>
                </a:moveTo>
                <a:lnTo>
                  <a:pt x="3597844" y="0"/>
                </a:lnTo>
                <a:lnTo>
                  <a:pt x="359784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flipH="1">
            <a:off x="-2736219" y="-365961"/>
            <a:ext cx="5472439" cy="3066788"/>
          </a:xfrm>
          <a:custGeom>
            <a:avLst/>
            <a:gdLst/>
            <a:ahLst/>
            <a:cxnLst/>
            <a:rect l="l" t="t" r="r" b="b"/>
            <a:pathLst>
              <a:path w="5472439" h="3066788">
                <a:moveTo>
                  <a:pt x="5472438" y="0"/>
                </a:moveTo>
                <a:lnTo>
                  <a:pt x="0" y="0"/>
                </a:lnTo>
                <a:lnTo>
                  <a:pt x="0" y="3066788"/>
                </a:lnTo>
                <a:lnTo>
                  <a:pt x="5472438" y="3066788"/>
                </a:lnTo>
                <a:lnTo>
                  <a:pt x="5472438"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Freeform 2"/>
          <p:cNvSpPr/>
          <p:nvPr/>
        </p:nvSpPr>
        <p:spPr>
          <a:xfrm>
            <a:off x="9565084" y="3203753"/>
            <a:ext cx="6606533" cy="5393334"/>
          </a:xfrm>
          <a:custGeom>
            <a:avLst/>
            <a:gdLst/>
            <a:ahLst/>
            <a:cxnLst/>
            <a:rect l="l" t="t" r="r" b="b"/>
            <a:pathLst>
              <a:path w="6606533" h="5393334">
                <a:moveTo>
                  <a:pt x="0" y="0"/>
                </a:moveTo>
                <a:lnTo>
                  <a:pt x="6606534" y="0"/>
                </a:lnTo>
                <a:lnTo>
                  <a:pt x="6606534" y="5393334"/>
                </a:lnTo>
                <a:lnTo>
                  <a:pt x="0" y="53933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521277" y="9158737"/>
            <a:ext cx="3539193" cy="199127"/>
          </a:xfrm>
          <a:custGeom>
            <a:avLst/>
            <a:gdLst/>
            <a:ahLst/>
            <a:cxnLst/>
            <a:rect l="l" t="t" r="r" b="b"/>
            <a:pathLst>
              <a:path w="3539193" h="199127">
                <a:moveTo>
                  <a:pt x="0" y="0"/>
                </a:moveTo>
                <a:lnTo>
                  <a:pt x="3539193" y="0"/>
                </a:lnTo>
                <a:lnTo>
                  <a:pt x="3539193" y="199126"/>
                </a:lnTo>
                <a:lnTo>
                  <a:pt x="0" y="1991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820136">
            <a:off x="15909502" y="-889967"/>
            <a:ext cx="3597844" cy="4114800"/>
          </a:xfrm>
          <a:custGeom>
            <a:avLst/>
            <a:gdLst/>
            <a:ahLst/>
            <a:cxnLst/>
            <a:rect l="l" t="t" r="r" b="b"/>
            <a:pathLst>
              <a:path w="3597844" h="4114800">
                <a:moveTo>
                  <a:pt x="0" y="0"/>
                </a:moveTo>
                <a:lnTo>
                  <a:pt x="3597844" y="0"/>
                </a:lnTo>
                <a:lnTo>
                  <a:pt x="359784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flipH="1">
            <a:off x="-2736219" y="-365961"/>
            <a:ext cx="5472439" cy="3066788"/>
          </a:xfrm>
          <a:custGeom>
            <a:avLst/>
            <a:gdLst/>
            <a:ahLst/>
            <a:cxnLst/>
            <a:rect l="l" t="t" r="r" b="b"/>
            <a:pathLst>
              <a:path w="5472439" h="3066788">
                <a:moveTo>
                  <a:pt x="5472438" y="0"/>
                </a:moveTo>
                <a:lnTo>
                  <a:pt x="0" y="0"/>
                </a:lnTo>
                <a:lnTo>
                  <a:pt x="0" y="3066788"/>
                </a:lnTo>
                <a:lnTo>
                  <a:pt x="5472438" y="3066788"/>
                </a:lnTo>
                <a:lnTo>
                  <a:pt x="5472438"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6" name="TextBox 6"/>
          <p:cNvSpPr txBox="1"/>
          <p:nvPr/>
        </p:nvSpPr>
        <p:spPr>
          <a:xfrm>
            <a:off x="3365152" y="819150"/>
            <a:ext cx="11557696" cy="1425574"/>
          </a:xfrm>
          <a:prstGeom prst="rect">
            <a:avLst/>
          </a:prstGeom>
        </p:spPr>
        <p:txBody>
          <a:bodyPr lIns="0" tIns="0" rIns="0" bIns="0" rtlCol="0" anchor="t">
            <a:spAutoFit/>
          </a:bodyPr>
          <a:lstStyle/>
          <a:p>
            <a:pPr algn="ctr">
              <a:lnSpc>
                <a:spcPts val="11200"/>
              </a:lnSpc>
            </a:pPr>
            <a:r>
              <a:rPr lang="en-US" sz="8000" b="1">
                <a:solidFill>
                  <a:srgbClr val="593EA1"/>
                </a:solidFill>
                <a:latin typeface="Bubblebody Neue Bold"/>
                <a:ea typeface="Bubblebody Neue Bold"/>
                <a:cs typeface="Bubblebody Neue Bold"/>
                <a:sym typeface="Bubblebody Neue Bold"/>
              </a:rPr>
              <a:t>Paper Objective</a:t>
            </a:r>
          </a:p>
        </p:txBody>
      </p:sp>
      <p:sp>
        <p:nvSpPr>
          <p:cNvPr id="7" name="TextBox 7"/>
          <p:cNvSpPr txBox="1"/>
          <p:nvPr/>
        </p:nvSpPr>
        <p:spPr>
          <a:xfrm>
            <a:off x="413066" y="2653202"/>
            <a:ext cx="8924119" cy="2251066"/>
          </a:xfrm>
          <a:prstGeom prst="rect">
            <a:avLst/>
          </a:prstGeom>
        </p:spPr>
        <p:txBody>
          <a:bodyPr lIns="0" tIns="0" rIns="0" bIns="0" rtlCol="0" anchor="t">
            <a:spAutoFit/>
          </a:bodyPr>
          <a:lstStyle/>
          <a:p>
            <a:pPr algn="l">
              <a:lnSpc>
                <a:spcPts val="3590"/>
              </a:lnSpc>
            </a:pPr>
            <a:r>
              <a:rPr lang="en-US" sz="2564">
                <a:solidFill>
                  <a:srgbClr val="000000"/>
                </a:solidFill>
                <a:latin typeface="Canva Sans"/>
                <a:ea typeface="Canva Sans"/>
                <a:cs typeface="Canva Sans"/>
                <a:sym typeface="Canva Sans"/>
              </a:rPr>
              <a:t>Impact of Variable RNA-Sequencing Depth on Gene Expression Signatures and Target Compound Robustness: Case Study Examining Brain Tumor (Glioma) Disease Progression</a:t>
            </a:r>
          </a:p>
          <a:p>
            <a:pPr algn="l">
              <a:lnSpc>
                <a:spcPts val="3590"/>
              </a:lnSpc>
            </a:pPr>
            <a:endParaRPr lang="en-US" sz="2564">
              <a:solidFill>
                <a:srgbClr val="000000"/>
              </a:solidFill>
              <a:latin typeface="Canva Sans"/>
              <a:ea typeface="Canva Sans"/>
              <a:cs typeface="Canva Sans"/>
              <a:sym typeface="Canva Sans"/>
            </a:endParaRPr>
          </a:p>
        </p:txBody>
      </p:sp>
      <p:sp>
        <p:nvSpPr>
          <p:cNvPr id="8" name="TextBox 8"/>
          <p:cNvSpPr txBox="1"/>
          <p:nvPr/>
        </p:nvSpPr>
        <p:spPr>
          <a:xfrm>
            <a:off x="-124787" y="5294793"/>
            <a:ext cx="10370513" cy="1693404"/>
          </a:xfrm>
          <a:prstGeom prst="rect">
            <a:avLst/>
          </a:prstGeom>
        </p:spPr>
        <p:txBody>
          <a:bodyPr lIns="0" tIns="0" rIns="0" bIns="0" rtlCol="0" anchor="t">
            <a:spAutoFit/>
          </a:bodyPr>
          <a:lstStyle/>
          <a:p>
            <a:pPr marL="513308" lvl="1" indent="-256654" algn="ctr">
              <a:lnSpc>
                <a:spcPts val="3328"/>
              </a:lnSpc>
              <a:spcBef>
                <a:spcPct val="0"/>
              </a:spcBef>
              <a:buFont typeface="Arial"/>
              <a:buChar char="•"/>
            </a:pPr>
            <a:r>
              <a:rPr lang="en-US" sz="2377" b="1">
                <a:solidFill>
                  <a:srgbClr val="000000"/>
                </a:solidFill>
                <a:latin typeface="Bubblebody Neue Bold"/>
                <a:ea typeface="Bubblebody Neue Bold"/>
                <a:cs typeface="Bubblebody Neue Bold"/>
                <a:sym typeface="Bubblebody Neue Bold"/>
              </a:rPr>
              <a:t>Purpose: Investigate how reduced sequencing depth impacts differential gene expression detection and downstream connectivity mapping.</a:t>
            </a:r>
          </a:p>
          <a:p>
            <a:pPr algn="ctr">
              <a:lnSpc>
                <a:spcPts val="3328"/>
              </a:lnSpc>
              <a:spcBef>
                <a:spcPct val="0"/>
              </a:spcBef>
            </a:pPr>
            <a:endParaRPr lang="en-US" sz="2377" b="1">
              <a:solidFill>
                <a:srgbClr val="000000"/>
              </a:solidFill>
              <a:latin typeface="Bubblebody Neue Bold"/>
              <a:ea typeface="Bubblebody Neue Bold"/>
              <a:cs typeface="Bubblebody Neue Bold"/>
              <a:sym typeface="Bubblebody Neue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TextBox 2"/>
          <p:cNvSpPr txBox="1"/>
          <p:nvPr/>
        </p:nvSpPr>
        <p:spPr>
          <a:xfrm>
            <a:off x="3365152" y="819150"/>
            <a:ext cx="11557696" cy="1425574"/>
          </a:xfrm>
          <a:prstGeom prst="rect">
            <a:avLst/>
          </a:prstGeom>
        </p:spPr>
        <p:txBody>
          <a:bodyPr lIns="0" tIns="0" rIns="0" bIns="0" rtlCol="0" anchor="t">
            <a:spAutoFit/>
          </a:bodyPr>
          <a:lstStyle/>
          <a:p>
            <a:pPr algn="ctr">
              <a:lnSpc>
                <a:spcPts val="11200"/>
              </a:lnSpc>
            </a:pPr>
            <a:r>
              <a:rPr lang="en-US" sz="8000" b="1">
                <a:solidFill>
                  <a:srgbClr val="593EA1"/>
                </a:solidFill>
                <a:latin typeface="Bubblebody Neue Bold"/>
                <a:ea typeface="Bubblebody Neue Bold"/>
                <a:cs typeface="Bubblebody Neue Bold"/>
                <a:sym typeface="Bubblebody Neue Bold"/>
              </a:rPr>
              <a:t>Project Hypothesis</a:t>
            </a:r>
          </a:p>
        </p:txBody>
      </p:sp>
      <p:sp>
        <p:nvSpPr>
          <p:cNvPr id="3" name="Freeform 3"/>
          <p:cNvSpPr/>
          <p:nvPr/>
        </p:nvSpPr>
        <p:spPr>
          <a:xfrm>
            <a:off x="7374404" y="9158737"/>
            <a:ext cx="3539193" cy="199127"/>
          </a:xfrm>
          <a:custGeom>
            <a:avLst/>
            <a:gdLst/>
            <a:ahLst/>
            <a:cxnLst/>
            <a:rect l="l" t="t" r="r" b="b"/>
            <a:pathLst>
              <a:path w="3539193" h="199127">
                <a:moveTo>
                  <a:pt x="0" y="0"/>
                </a:moveTo>
                <a:lnTo>
                  <a:pt x="3539192" y="0"/>
                </a:lnTo>
                <a:lnTo>
                  <a:pt x="3539192" y="199126"/>
                </a:lnTo>
                <a:lnTo>
                  <a:pt x="0" y="1991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028700" y="4104667"/>
            <a:ext cx="16766723" cy="2590453"/>
          </a:xfrm>
          <a:prstGeom prst="rect">
            <a:avLst/>
          </a:prstGeom>
        </p:spPr>
        <p:txBody>
          <a:bodyPr lIns="0" tIns="0" rIns="0" bIns="0" rtlCol="0" anchor="t">
            <a:spAutoFit/>
          </a:bodyPr>
          <a:lstStyle/>
          <a:p>
            <a:pPr algn="l">
              <a:lnSpc>
                <a:spcPts val="4128"/>
              </a:lnSpc>
            </a:pPr>
            <a:r>
              <a:rPr lang="en-US" sz="2948">
                <a:solidFill>
                  <a:srgbClr val="000000"/>
                </a:solidFill>
                <a:latin typeface="Canva Sans"/>
                <a:ea typeface="Canva Sans"/>
                <a:cs typeface="Canva Sans"/>
                <a:sym typeface="Canva Sans"/>
              </a:rPr>
              <a:t>The integration of differential gene expression analysis (via DESeq2), functional pathway scoring (via GSVA), and Gene Ontology enrichment can accurately classify glioma subtypes and predict key biological mechanisms associated with glioma progression. Additionally, incorporating these computational analyses into an AI model can improve the precision of glioma subtype diagnosis </a:t>
            </a:r>
          </a:p>
        </p:txBody>
      </p:sp>
      <p:sp>
        <p:nvSpPr>
          <p:cNvPr id="5" name="Freeform 5"/>
          <p:cNvSpPr/>
          <p:nvPr/>
        </p:nvSpPr>
        <p:spPr>
          <a:xfrm>
            <a:off x="15305955" y="-1045531"/>
            <a:ext cx="7315200" cy="3616754"/>
          </a:xfrm>
          <a:custGeom>
            <a:avLst/>
            <a:gdLst/>
            <a:ahLst/>
            <a:cxnLst/>
            <a:rect l="l" t="t" r="r" b="b"/>
            <a:pathLst>
              <a:path w="7315200" h="3616754">
                <a:moveTo>
                  <a:pt x="0" y="0"/>
                </a:moveTo>
                <a:lnTo>
                  <a:pt x="7315200" y="0"/>
                </a:lnTo>
                <a:lnTo>
                  <a:pt x="7315200" y="3616754"/>
                </a:lnTo>
                <a:lnTo>
                  <a:pt x="0" y="36167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2957713" y="-495565"/>
            <a:ext cx="5472439" cy="3066788"/>
          </a:xfrm>
          <a:custGeom>
            <a:avLst/>
            <a:gdLst/>
            <a:ahLst/>
            <a:cxnLst/>
            <a:rect l="l" t="t" r="r" b="b"/>
            <a:pathLst>
              <a:path w="5472439" h="3066788">
                <a:moveTo>
                  <a:pt x="0" y="0"/>
                </a:moveTo>
                <a:lnTo>
                  <a:pt x="5472439" y="0"/>
                </a:lnTo>
                <a:lnTo>
                  <a:pt x="5472439" y="3066788"/>
                </a:lnTo>
                <a:lnTo>
                  <a:pt x="0" y="306678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963402"/>
            <a:ext cx="5009041" cy="5009041"/>
            <a:chOff x="0" y="0"/>
            <a:chExt cx="1319254" cy="1319254"/>
          </a:xfrm>
        </p:grpSpPr>
        <p:sp>
          <p:nvSpPr>
            <p:cNvPr id="3" name="Freeform 3"/>
            <p:cNvSpPr/>
            <p:nvPr/>
          </p:nvSpPr>
          <p:spPr>
            <a:xfrm>
              <a:off x="0" y="0"/>
              <a:ext cx="1319254" cy="1319254"/>
            </a:xfrm>
            <a:custGeom>
              <a:avLst/>
              <a:gdLst/>
              <a:ahLst/>
              <a:cxnLst/>
              <a:rect l="l" t="t" r="r" b="b"/>
              <a:pathLst>
                <a:path w="1319254" h="1319254">
                  <a:moveTo>
                    <a:pt x="92735" y="0"/>
                  </a:moveTo>
                  <a:lnTo>
                    <a:pt x="1226518" y="0"/>
                  </a:lnTo>
                  <a:cubicBezTo>
                    <a:pt x="1277735" y="0"/>
                    <a:pt x="1319254" y="41519"/>
                    <a:pt x="1319254" y="92735"/>
                  </a:cubicBezTo>
                  <a:lnTo>
                    <a:pt x="1319254" y="1226518"/>
                  </a:lnTo>
                  <a:cubicBezTo>
                    <a:pt x="1319254" y="1251113"/>
                    <a:pt x="1309483" y="1274701"/>
                    <a:pt x="1292092" y="1292092"/>
                  </a:cubicBezTo>
                  <a:cubicBezTo>
                    <a:pt x="1274701" y="1309483"/>
                    <a:pt x="1251113" y="1319254"/>
                    <a:pt x="1226518" y="1319254"/>
                  </a:cubicBezTo>
                  <a:lnTo>
                    <a:pt x="92735" y="1319254"/>
                  </a:lnTo>
                  <a:cubicBezTo>
                    <a:pt x="68140" y="1319254"/>
                    <a:pt x="44553" y="1309483"/>
                    <a:pt x="27162" y="1292092"/>
                  </a:cubicBezTo>
                  <a:cubicBezTo>
                    <a:pt x="9770" y="1274701"/>
                    <a:pt x="0" y="1251113"/>
                    <a:pt x="0" y="1226518"/>
                  </a:cubicBezTo>
                  <a:lnTo>
                    <a:pt x="0" y="92735"/>
                  </a:lnTo>
                  <a:cubicBezTo>
                    <a:pt x="0" y="68140"/>
                    <a:pt x="9770" y="44553"/>
                    <a:pt x="27162" y="27162"/>
                  </a:cubicBezTo>
                  <a:cubicBezTo>
                    <a:pt x="44553" y="9770"/>
                    <a:pt x="68140" y="0"/>
                    <a:pt x="92735" y="0"/>
                  </a:cubicBezTo>
                  <a:close/>
                </a:path>
              </a:pathLst>
            </a:custGeom>
            <a:solidFill>
              <a:srgbClr val="593EA1"/>
            </a:solidFill>
            <a:ln cap="rnd">
              <a:noFill/>
              <a:prstDash val="solid"/>
              <a:round/>
            </a:ln>
          </p:spPr>
          <p:txBody>
            <a:bodyPr/>
            <a:lstStyle/>
            <a:p>
              <a:endParaRPr lang="en-US"/>
            </a:p>
          </p:txBody>
        </p:sp>
        <p:sp>
          <p:nvSpPr>
            <p:cNvPr id="4" name="TextBox 4"/>
            <p:cNvSpPr txBox="1"/>
            <p:nvPr/>
          </p:nvSpPr>
          <p:spPr>
            <a:xfrm>
              <a:off x="0" y="-38100"/>
              <a:ext cx="1319254" cy="135735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639479" y="2963402"/>
            <a:ext cx="5009041" cy="5009041"/>
            <a:chOff x="0" y="0"/>
            <a:chExt cx="1319254" cy="1319254"/>
          </a:xfrm>
        </p:grpSpPr>
        <p:sp>
          <p:nvSpPr>
            <p:cNvPr id="6" name="Freeform 6"/>
            <p:cNvSpPr/>
            <p:nvPr/>
          </p:nvSpPr>
          <p:spPr>
            <a:xfrm>
              <a:off x="0" y="0"/>
              <a:ext cx="1319254" cy="1319254"/>
            </a:xfrm>
            <a:custGeom>
              <a:avLst/>
              <a:gdLst/>
              <a:ahLst/>
              <a:cxnLst/>
              <a:rect l="l" t="t" r="r" b="b"/>
              <a:pathLst>
                <a:path w="1319254" h="1319254">
                  <a:moveTo>
                    <a:pt x="92735" y="0"/>
                  </a:moveTo>
                  <a:lnTo>
                    <a:pt x="1226518" y="0"/>
                  </a:lnTo>
                  <a:cubicBezTo>
                    <a:pt x="1277735" y="0"/>
                    <a:pt x="1319254" y="41519"/>
                    <a:pt x="1319254" y="92735"/>
                  </a:cubicBezTo>
                  <a:lnTo>
                    <a:pt x="1319254" y="1226518"/>
                  </a:lnTo>
                  <a:cubicBezTo>
                    <a:pt x="1319254" y="1251113"/>
                    <a:pt x="1309483" y="1274701"/>
                    <a:pt x="1292092" y="1292092"/>
                  </a:cubicBezTo>
                  <a:cubicBezTo>
                    <a:pt x="1274701" y="1309483"/>
                    <a:pt x="1251113" y="1319254"/>
                    <a:pt x="1226518" y="1319254"/>
                  </a:cubicBezTo>
                  <a:lnTo>
                    <a:pt x="92735" y="1319254"/>
                  </a:lnTo>
                  <a:cubicBezTo>
                    <a:pt x="68140" y="1319254"/>
                    <a:pt x="44553" y="1309483"/>
                    <a:pt x="27162" y="1292092"/>
                  </a:cubicBezTo>
                  <a:cubicBezTo>
                    <a:pt x="9770" y="1274701"/>
                    <a:pt x="0" y="1251113"/>
                    <a:pt x="0" y="1226518"/>
                  </a:cubicBezTo>
                  <a:lnTo>
                    <a:pt x="0" y="92735"/>
                  </a:lnTo>
                  <a:cubicBezTo>
                    <a:pt x="0" y="68140"/>
                    <a:pt x="9770" y="44553"/>
                    <a:pt x="27162" y="27162"/>
                  </a:cubicBezTo>
                  <a:cubicBezTo>
                    <a:pt x="44553" y="9770"/>
                    <a:pt x="68140" y="0"/>
                    <a:pt x="92735" y="0"/>
                  </a:cubicBezTo>
                  <a:close/>
                </a:path>
              </a:pathLst>
            </a:custGeom>
            <a:solidFill>
              <a:srgbClr val="FFFDF9"/>
            </a:solidFill>
            <a:ln w="38100" cap="rnd">
              <a:solidFill>
                <a:srgbClr val="593EA1"/>
              </a:solidFill>
              <a:prstDash val="solid"/>
              <a:round/>
            </a:ln>
          </p:spPr>
          <p:txBody>
            <a:bodyPr/>
            <a:lstStyle/>
            <a:p>
              <a:endParaRPr lang="en-US"/>
            </a:p>
          </p:txBody>
        </p:sp>
        <p:sp>
          <p:nvSpPr>
            <p:cNvPr id="7" name="TextBox 7"/>
            <p:cNvSpPr txBox="1"/>
            <p:nvPr/>
          </p:nvSpPr>
          <p:spPr>
            <a:xfrm>
              <a:off x="0" y="-38100"/>
              <a:ext cx="1319254" cy="1357354"/>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7011276" y="3955924"/>
            <a:ext cx="4265449" cy="2682465"/>
          </a:xfrm>
          <a:prstGeom prst="rect">
            <a:avLst/>
          </a:prstGeom>
        </p:spPr>
        <p:txBody>
          <a:bodyPr lIns="0" tIns="0" rIns="0" bIns="0" rtlCol="0" anchor="t">
            <a:spAutoFit/>
          </a:bodyPr>
          <a:lstStyle/>
          <a:p>
            <a:pPr algn="l">
              <a:lnSpc>
                <a:spcPts val="3560"/>
              </a:lnSpc>
            </a:pPr>
            <a:r>
              <a:rPr lang="en-US" sz="2543">
                <a:solidFill>
                  <a:srgbClr val="593EA1"/>
                </a:solidFill>
                <a:latin typeface="Canva Sans"/>
                <a:ea typeface="Canva Sans"/>
                <a:cs typeface="Canva Sans"/>
                <a:sym typeface="Canva Sans"/>
              </a:rPr>
              <a:t>Counting tables </a:t>
            </a:r>
          </a:p>
          <a:p>
            <a:pPr algn="l">
              <a:lnSpc>
                <a:spcPts val="3560"/>
              </a:lnSpc>
            </a:pPr>
            <a:r>
              <a:rPr lang="en-US" sz="2543">
                <a:solidFill>
                  <a:srgbClr val="593EA1"/>
                </a:solidFill>
                <a:latin typeface="Canva Sans"/>
                <a:ea typeface="Canva Sans"/>
                <a:cs typeface="Canva Sans"/>
                <a:sym typeface="Canva Sans"/>
              </a:rPr>
              <a:t>(Applied DeSeq2 Tool) </a:t>
            </a:r>
          </a:p>
          <a:p>
            <a:pPr algn="l">
              <a:lnSpc>
                <a:spcPts val="3560"/>
              </a:lnSpc>
            </a:pPr>
            <a:r>
              <a:rPr lang="en-US" sz="2543">
                <a:solidFill>
                  <a:srgbClr val="593EA1"/>
                </a:solidFill>
                <a:latin typeface="Canva Sans"/>
                <a:ea typeface="Canva Sans"/>
                <a:cs typeface="Canva Sans"/>
                <a:sym typeface="Canva Sans"/>
              </a:rPr>
              <a:t>For the visualization:</a:t>
            </a:r>
          </a:p>
          <a:p>
            <a:pPr algn="l">
              <a:lnSpc>
                <a:spcPts val="3560"/>
              </a:lnSpc>
            </a:pPr>
            <a:r>
              <a:rPr lang="en-US" sz="2543">
                <a:solidFill>
                  <a:srgbClr val="593EA1"/>
                </a:solidFill>
                <a:latin typeface="Canva Sans"/>
                <a:ea typeface="Canva Sans"/>
                <a:cs typeface="Canva Sans"/>
                <a:sym typeface="Canva Sans"/>
              </a:rPr>
              <a:t>Volcano Plot</a:t>
            </a:r>
          </a:p>
          <a:p>
            <a:pPr algn="l">
              <a:lnSpc>
                <a:spcPts val="3560"/>
              </a:lnSpc>
            </a:pPr>
            <a:r>
              <a:rPr lang="en-US" sz="2543">
                <a:solidFill>
                  <a:srgbClr val="593EA1"/>
                </a:solidFill>
                <a:latin typeface="Canva Sans"/>
                <a:ea typeface="Canva Sans"/>
                <a:cs typeface="Canva Sans"/>
                <a:sym typeface="Canva Sans"/>
              </a:rPr>
              <a:t>Bar Chart</a:t>
            </a:r>
          </a:p>
          <a:p>
            <a:pPr algn="l">
              <a:lnSpc>
                <a:spcPts val="3560"/>
              </a:lnSpc>
            </a:pPr>
            <a:endParaRPr lang="en-US" sz="2543">
              <a:solidFill>
                <a:srgbClr val="593EA1"/>
              </a:solidFill>
              <a:latin typeface="Canva Sans"/>
              <a:ea typeface="Canva Sans"/>
              <a:cs typeface="Canva Sans"/>
              <a:sym typeface="Canva Sans"/>
            </a:endParaRPr>
          </a:p>
        </p:txBody>
      </p:sp>
      <p:grpSp>
        <p:nvGrpSpPr>
          <p:cNvPr id="9" name="Group 9"/>
          <p:cNvGrpSpPr/>
          <p:nvPr/>
        </p:nvGrpSpPr>
        <p:grpSpPr>
          <a:xfrm>
            <a:off x="12250259" y="2963402"/>
            <a:ext cx="5009041" cy="5009041"/>
            <a:chOff x="0" y="0"/>
            <a:chExt cx="1319254" cy="1319254"/>
          </a:xfrm>
        </p:grpSpPr>
        <p:sp>
          <p:nvSpPr>
            <p:cNvPr id="10" name="Freeform 10"/>
            <p:cNvSpPr/>
            <p:nvPr/>
          </p:nvSpPr>
          <p:spPr>
            <a:xfrm>
              <a:off x="0" y="0"/>
              <a:ext cx="1319254" cy="1319254"/>
            </a:xfrm>
            <a:custGeom>
              <a:avLst/>
              <a:gdLst/>
              <a:ahLst/>
              <a:cxnLst/>
              <a:rect l="l" t="t" r="r" b="b"/>
              <a:pathLst>
                <a:path w="1319254" h="1319254">
                  <a:moveTo>
                    <a:pt x="92735" y="0"/>
                  </a:moveTo>
                  <a:lnTo>
                    <a:pt x="1226518" y="0"/>
                  </a:lnTo>
                  <a:cubicBezTo>
                    <a:pt x="1277735" y="0"/>
                    <a:pt x="1319254" y="41519"/>
                    <a:pt x="1319254" y="92735"/>
                  </a:cubicBezTo>
                  <a:lnTo>
                    <a:pt x="1319254" y="1226518"/>
                  </a:lnTo>
                  <a:cubicBezTo>
                    <a:pt x="1319254" y="1251113"/>
                    <a:pt x="1309483" y="1274701"/>
                    <a:pt x="1292092" y="1292092"/>
                  </a:cubicBezTo>
                  <a:cubicBezTo>
                    <a:pt x="1274701" y="1309483"/>
                    <a:pt x="1251113" y="1319254"/>
                    <a:pt x="1226518" y="1319254"/>
                  </a:cubicBezTo>
                  <a:lnTo>
                    <a:pt x="92735" y="1319254"/>
                  </a:lnTo>
                  <a:cubicBezTo>
                    <a:pt x="68140" y="1319254"/>
                    <a:pt x="44553" y="1309483"/>
                    <a:pt x="27162" y="1292092"/>
                  </a:cubicBezTo>
                  <a:cubicBezTo>
                    <a:pt x="9770" y="1274701"/>
                    <a:pt x="0" y="1251113"/>
                    <a:pt x="0" y="1226518"/>
                  </a:cubicBezTo>
                  <a:lnTo>
                    <a:pt x="0" y="92735"/>
                  </a:lnTo>
                  <a:cubicBezTo>
                    <a:pt x="0" y="68140"/>
                    <a:pt x="9770" y="44553"/>
                    <a:pt x="27162" y="27162"/>
                  </a:cubicBezTo>
                  <a:cubicBezTo>
                    <a:pt x="44553" y="9770"/>
                    <a:pt x="68140" y="0"/>
                    <a:pt x="92735" y="0"/>
                  </a:cubicBezTo>
                  <a:close/>
                </a:path>
              </a:pathLst>
            </a:custGeom>
            <a:solidFill>
              <a:srgbClr val="593EA1"/>
            </a:solidFill>
            <a:ln cap="rnd">
              <a:noFill/>
              <a:prstDash val="solid"/>
              <a:round/>
            </a:ln>
          </p:spPr>
          <p:txBody>
            <a:bodyPr/>
            <a:lstStyle/>
            <a:p>
              <a:endParaRPr lang="en-US"/>
            </a:p>
          </p:txBody>
        </p:sp>
        <p:sp>
          <p:nvSpPr>
            <p:cNvPr id="11" name="TextBox 11"/>
            <p:cNvSpPr txBox="1"/>
            <p:nvPr/>
          </p:nvSpPr>
          <p:spPr>
            <a:xfrm>
              <a:off x="0" y="-38100"/>
              <a:ext cx="1319254" cy="1357354"/>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2773279" y="3569283"/>
            <a:ext cx="3963001" cy="3749655"/>
          </a:xfrm>
          <a:prstGeom prst="rect">
            <a:avLst/>
          </a:prstGeom>
        </p:spPr>
        <p:txBody>
          <a:bodyPr lIns="0" tIns="0" rIns="0" bIns="0" rtlCol="0" anchor="t">
            <a:spAutoFit/>
          </a:bodyPr>
          <a:lstStyle/>
          <a:p>
            <a:pPr algn="l">
              <a:lnSpc>
                <a:spcPts val="3308"/>
              </a:lnSpc>
            </a:pPr>
            <a:r>
              <a:rPr lang="en-US" sz="2363">
                <a:solidFill>
                  <a:srgbClr val="A2DFD9"/>
                </a:solidFill>
                <a:latin typeface="Canva Sans"/>
                <a:ea typeface="Canva Sans"/>
                <a:cs typeface="Canva Sans"/>
                <a:sym typeface="Canva Sans"/>
              </a:rPr>
              <a:t>GO Enrichment analysis</a:t>
            </a:r>
          </a:p>
          <a:p>
            <a:pPr algn="l">
              <a:lnSpc>
                <a:spcPts val="3308"/>
              </a:lnSpc>
            </a:pPr>
            <a:r>
              <a:rPr lang="en-US" sz="2363">
                <a:solidFill>
                  <a:srgbClr val="A2DFD9"/>
                </a:solidFill>
                <a:latin typeface="Canva Sans"/>
                <a:ea typeface="Canva Sans"/>
                <a:cs typeface="Canva Sans"/>
                <a:sym typeface="Canva Sans"/>
              </a:rPr>
              <a:t>vs</a:t>
            </a:r>
          </a:p>
          <a:p>
            <a:pPr algn="l">
              <a:lnSpc>
                <a:spcPts val="3308"/>
              </a:lnSpc>
            </a:pPr>
            <a:r>
              <a:rPr lang="en-US" sz="2363">
                <a:solidFill>
                  <a:srgbClr val="A2DFD9"/>
                </a:solidFill>
                <a:latin typeface="Canva Sans"/>
                <a:ea typeface="Canva Sans"/>
                <a:cs typeface="Canva Sans"/>
                <a:sym typeface="Canva Sans"/>
              </a:rPr>
              <a:t>KEGG pathways</a:t>
            </a:r>
          </a:p>
          <a:p>
            <a:pPr algn="l">
              <a:lnSpc>
                <a:spcPts val="3308"/>
              </a:lnSpc>
            </a:pPr>
            <a:endParaRPr lang="en-US" sz="2363">
              <a:solidFill>
                <a:srgbClr val="A2DFD9"/>
              </a:solidFill>
              <a:latin typeface="Canva Sans"/>
              <a:ea typeface="Canva Sans"/>
              <a:cs typeface="Canva Sans"/>
              <a:sym typeface="Canva Sans"/>
            </a:endParaRPr>
          </a:p>
          <a:p>
            <a:pPr algn="l">
              <a:lnSpc>
                <a:spcPts val="3308"/>
              </a:lnSpc>
            </a:pPr>
            <a:r>
              <a:rPr lang="en-US" sz="2363">
                <a:solidFill>
                  <a:srgbClr val="A2DFD9"/>
                </a:solidFill>
                <a:latin typeface="Canva Sans"/>
                <a:ea typeface="Canva Sans"/>
                <a:cs typeface="Canva Sans"/>
                <a:sym typeface="Canva Sans"/>
              </a:rPr>
              <a:t>Using a machine learning indication model by analyzing the GSVA score</a:t>
            </a:r>
          </a:p>
          <a:p>
            <a:pPr algn="l">
              <a:lnSpc>
                <a:spcPts val="3308"/>
              </a:lnSpc>
            </a:pPr>
            <a:r>
              <a:rPr lang="en-US" sz="2363">
                <a:solidFill>
                  <a:srgbClr val="A2DFD9"/>
                </a:solidFill>
                <a:latin typeface="Canva Sans"/>
                <a:ea typeface="Canva Sans"/>
                <a:cs typeface="Canva Sans"/>
                <a:sym typeface="Canva Sans"/>
              </a:rPr>
              <a:t>to indicate patient’s subtype of  Glioma</a:t>
            </a:r>
          </a:p>
        </p:txBody>
      </p:sp>
      <p:sp>
        <p:nvSpPr>
          <p:cNvPr id="13" name="AutoShape 13"/>
          <p:cNvSpPr/>
          <p:nvPr/>
        </p:nvSpPr>
        <p:spPr>
          <a:xfrm>
            <a:off x="6037741" y="5467923"/>
            <a:ext cx="3106259" cy="2504521"/>
          </a:xfrm>
          <a:prstGeom prst="line">
            <a:avLst/>
          </a:prstGeom>
          <a:ln w="66675" cap="flat">
            <a:solidFill>
              <a:srgbClr val="593EA1"/>
            </a:solidFill>
            <a:prstDash val="sysDash"/>
            <a:headEnd type="none" w="sm" len="sm"/>
            <a:tailEnd type="none" w="sm" len="sm"/>
          </a:ln>
        </p:spPr>
        <p:txBody>
          <a:bodyPr/>
          <a:lstStyle/>
          <a:p>
            <a:endParaRPr lang="en-US"/>
          </a:p>
        </p:txBody>
      </p:sp>
      <p:sp>
        <p:nvSpPr>
          <p:cNvPr id="14" name="AutoShape 14"/>
          <p:cNvSpPr/>
          <p:nvPr/>
        </p:nvSpPr>
        <p:spPr>
          <a:xfrm>
            <a:off x="11648521" y="5467923"/>
            <a:ext cx="3106259" cy="2504521"/>
          </a:xfrm>
          <a:prstGeom prst="line">
            <a:avLst/>
          </a:prstGeom>
          <a:ln w="66675" cap="flat">
            <a:solidFill>
              <a:srgbClr val="593EA1"/>
            </a:solidFill>
            <a:prstDash val="sysDash"/>
            <a:headEnd type="none" w="sm" len="sm"/>
            <a:tailEnd type="none" w="sm" len="sm"/>
          </a:ln>
        </p:spPr>
        <p:txBody>
          <a:bodyPr/>
          <a:lstStyle/>
          <a:p>
            <a:endParaRPr lang="en-US"/>
          </a:p>
        </p:txBody>
      </p:sp>
      <p:sp>
        <p:nvSpPr>
          <p:cNvPr id="15" name="TextBox 15"/>
          <p:cNvSpPr txBox="1"/>
          <p:nvPr/>
        </p:nvSpPr>
        <p:spPr>
          <a:xfrm>
            <a:off x="3365152" y="819150"/>
            <a:ext cx="11557696" cy="1425574"/>
          </a:xfrm>
          <a:prstGeom prst="rect">
            <a:avLst/>
          </a:prstGeom>
        </p:spPr>
        <p:txBody>
          <a:bodyPr lIns="0" tIns="0" rIns="0" bIns="0" rtlCol="0" anchor="t">
            <a:spAutoFit/>
          </a:bodyPr>
          <a:lstStyle/>
          <a:p>
            <a:pPr algn="ctr">
              <a:lnSpc>
                <a:spcPts val="11200"/>
              </a:lnSpc>
            </a:pPr>
            <a:r>
              <a:rPr lang="en-US" sz="8000" b="1">
                <a:solidFill>
                  <a:srgbClr val="593EA1"/>
                </a:solidFill>
                <a:latin typeface="Bubblebody Neue Bold"/>
                <a:ea typeface="Bubblebody Neue Bold"/>
                <a:cs typeface="Bubblebody Neue Bold"/>
                <a:sym typeface="Bubblebody Neue Bold"/>
              </a:rPr>
              <a:t>Methodology</a:t>
            </a:r>
          </a:p>
        </p:txBody>
      </p:sp>
      <p:sp>
        <p:nvSpPr>
          <p:cNvPr id="16" name="TextBox 16"/>
          <p:cNvSpPr txBox="1"/>
          <p:nvPr/>
        </p:nvSpPr>
        <p:spPr>
          <a:xfrm>
            <a:off x="1307796" y="3946399"/>
            <a:ext cx="4450850" cy="2337052"/>
          </a:xfrm>
          <a:prstGeom prst="rect">
            <a:avLst/>
          </a:prstGeom>
        </p:spPr>
        <p:txBody>
          <a:bodyPr lIns="0" tIns="0" rIns="0" bIns="0" rtlCol="0" anchor="t">
            <a:spAutoFit/>
          </a:bodyPr>
          <a:lstStyle/>
          <a:p>
            <a:pPr algn="l">
              <a:lnSpc>
                <a:spcPts val="3715"/>
              </a:lnSpc>
            </a:pPr>
            <a:r>
              <a:rPr lang="en-US" sz="2653">
                <a:solidFill>
                  <a:srgbClr val="A2DFD9"/>
                </a:solidFill>
                <a:latin typeface="Canva Sans"/>
                <a:ea typeface="Canva Sans"/>
                <a:cs typeface="Canva Sans"/>
                <a:sym typeface="Canva Sans"/>
              </a:rPr>
              <a:t>Dataset 274 samples</a:t>
            </a:r>
          </a:p>
          <a:p>
            <a:pPr algn="l">
              <a:lnSpc>
                <a:spcPts val="3715"/>
              </a:lnSpc>
            </a:pPr>
            <a:r>
              <a:rPr lang="en-US" sz="2653">
                <a:solidFill>
                  <a:srgbClr val="A2DFD9"/>
                </a:solidFill>
                <a:latin typeface="Canva Sans"/>
                <a:ea typeface="Canva Sans"/>
                <a:cs typeface="Canva Sans"/>
                <a:sym typeface="Canva Sans"/>
              </a:rPr>
              <a:t>850 GB</a:t>
            </a:r>
          </a:p>
          <a:p>
            <a:pPr algn="l">
              <a:lnSpc>
                <a:spcPts val="3715"/>
              </a:lnSpc>
            </a:pPr>
            <a:r>
              <a:rPr lang="en-US" sz="2653">
                <a:solidFill>
                  <a:srgbClr val="A2DFD9"/>
                </a:solidFill>
                <a:latin typeface="Canva Sans"/>
                <a:ea typeface="Canva Sans"/>
                <a:cs typeface="Canva Sans"/>
                <a:sym typeface="Canva Sans"/>
              </a:rPr>
              <a:t>Decided to download A sample from each </a:t>
            </a:r>
          </a:p>
          <a:p>
            <a:pPr algn="l">
              <a:lnSpc>
                <a:spcPts val="3715"/>
              </a:lnSpc>
            </a:pPr>
            <a:r>
              <a:rPr lang="en-US" sz="2653">
                <a:solidFill>
                  <a:srgbClr val="A2DFD9"/>
                </a:solidFill>
                <a:latin typeface="Canva Sans"/>
                <a:ea typeface="Canva Sans"/>
                <a:cs typeface="Canva Sans"/>
                <a:sym typeface="Canva Sans"/>
              </a:rPr>
              <a:t>(Type-Subtype)</a:t>
            </a:r>
          </a:p>
        </p:txBody>
      </p:sp>
      <p:sp>
        <p:nvSpPr>
          <p:cNvPr id="17" name="Freeform 17"/>
          <p:cNvSpPr/>
          <p:nvPr/>
        </p:nvSpPr>
        <p:spPr>
          <a:xfrm rot="-5820136">
            <a:off x="15909502" y="-889967"/>
            <a:ext cx="3597844" cy="4114800"/>
          </a:xfrm>
          <a:custGeom>
            <a:avLst/>
            <a:gdLst/>
            <a:ahLst/>
            <a:cxnLst/>
            <a:rect l="l" t="t" r="r" b="b"/>
            <a:pathLst>
              <a:path w="3597844" h="4114800">
                <a:moveTo>
                  <a:pt x="0" y="0"/>
                </a:moveTo>
                <a:lnTo>
                  <a:pt x="3597844" y="0"/>
                </a:lnTo>
                <a:lnTo>
                  <a:pt x="359784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8" name="Freeform 18"/>
          <p:cNvSpPr/>
          <p:nvPr/>
        </p:nvSpPr>
        <p:spPr>
          <a:xfrm flipH="1">
            <a:off x="-2736219" y="-365961"/>
            <a:ext cx="5472439" cy="3066788"/>
          </a:xfrm>
          <a:custGeom>
            <a:avLst/>
            <a:gdLst/>
            <a:ahLst/>
            <a:cxnLst/>
            <a:rect l="l" t="t" r="r" b="b"/>
            <a:pathLst>
              <a:path w="5472439" h="3066788">
                <a:moveTo>
                  <a:pt x="5472438" y="0"/>
                </a:moveTo>
                <a:lnTo>
                  <a:pt x="0" y="0"/>
                </a:lnTo>
                <a:lnTo>
                  <a:pt x="0" y="3066788"/>
                </a:lnTo>
                <a:lnTo>
                  <a:pt x="5472438" y="3066788"/>
                </a:lnTo>
                <a:lnTo>
                  <a:pt x="5472438"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963402"/>
            <a:ext cx="5009041" cy="5009041"/>
            <a:chOff x="0" y="0"/>
            <a:chExt cx="1319254" cy="1319254"/>
          </a:xfrm>
        </p:grpSpPr>
        <p:sp>
          <p:nvSpPr>
            <p:cNvPr id="3" name="Freeform 3"/>
            <p:cNvSpPr/>
            <p:nvPr/>
          </p:nvSpPr>
          <p:spPr>
            <a:xfrm>
              <a:off x="0" y="0"/>
              <a:ext cx="1319254" cy="1319254"/>
            </a:xfrm>
            <a:custGeom>
              <a:avLst/>
              <a:gdLst/>
              <a:ahLst/>
              <a:cxnLst/>
              <a:rect l="l" t="t" r="r" b="b"/>
              <a:pathLst>
                <a:path w="1319254" h="1319254">
                  <a:moveTo>
                    <a:pt x="92735" y="0"/>
                  </a:moveTo>
                  <a:lnTo>
                    <a:pt x="1226518" y="0"/>
                  </a:lnTo>
                  <a:cubicBezTo>
                    <a:pt x="1277735" y="0"/>
                    <a:pt x="1319254" y="41519"/>
                    <a:pt x="1319254" y="92735"/>
                  </a:cubicBezTo>
                  <a:lnTo>
                    <a:pt x="1319254" y="1226518"/>
                  </a:lnTo>
                  <a:cubicBezTo>
                    <a:pt x="1319254" y="1251113"/>
                    <a:pt x="1309483" y="1274701"/>
                    <a:pt x="1292092" y="1292092"/>
                  </a:cubicBezTo>
                  <a:cubicBezTo>
                    <a:pt x="1274701" y="1309483"/>
                    <a:pt x="1251113" y="1319254"/>
                    <a:pt x="1226518" y="1319254"/>
                  </a:cubicBezTo>
                  <a:lnTo>
                    <a:pt x="92735" y="1319254"/>
                  </a:lnTo>
                  <a:cubicBezTo>
                    <a:pt x="68140" y="1319254"/>
                    <a:pt x="44553" y="1309483"/>
                    <a:pt x="27162" y="1292092"/>
                  </a:cubicBezTo>
                  <a:cubicBezTo>
                    <a:pt x="9770" y="1274701"/>
                    <a:pt x="0" y="1251113"/>
                    <a:pt x="0" y="1226518"/>
                  </a:cubicBezTo>
                  <a:lnTo>
                    <a:pt x="0" y="92735"/>
                  </a:lnTo>
                  <a:cubicBezTo>
                    <a:pt x="0" y="68140"/>
                    <a:pt x="9770" y="44553"/>
                    <a:pt x="27162" y="27162"/>
                  </a:cubicBezTo>
                  <a:cubicBezTo>
                    <a:pt x="44553" y="9770"/>
                    <a:pt x="68140" y="0"/>
                    <a:pt x="92735" y="0"/>
                  </a:cubicBezTo>
                  <a:close/>
                </a:path>
              </a:pathLst>
            </a:custGeom>
            <a:solidFill>
              <a:srgbClr val="593EA1"/>
            </a:solidFill>
            <a:ln cap="rnd">
              <a:noFill/>
              <a:prstDash val="solid"/>
              <a:round/>
            </a:ln>
          </p:spPr>
          <p:txBody>
            <a:bodyPr/>
            <a:lstStyle/>
            <a:p>
              <a:endParaRPr lang="en-US"/>
            </a:p>
          </p:txBody>
        </p:sp>
        <p:sp>
          <p:nvSpPr>
            <p:cNvPr id="4" name="TextBox 4"/>
            <p:cNvSpPr txBox="1"/>
            <p:nvPr/>
          </p:nvSpPr>
          <p:spPr>
            <a:xfrm>
              <a:off x="0" y="-38100"/>
              <a:ext cx="1319254" cy="135735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639479" y="2963402"/>
            <a:ext cx="5009041" cy="5009041"/>
            <a:chOff x="0" y="0"/>
            <a:chExt cx="1319254" cy="1319254"/>
          </a:xfrm>
        </p:grpSpPr>
        <p:sp>
          <p:nvSpPr>
            <p:cNvPr id="6" name="Freeform 6"/>
            <p:cNvSpPr/>
            <p:nvPr/>
          </p:nvSpPr>
          <p:spPr>
            <a:xfrm>
              <a:off x="0" y="0"/>
              <a:ext cx="1319254" cy="1319254"/>
            </a:xfrm>
            <a:custGeom>
              <a:avLst/>
              <a:gdLst/>
              <a:ahLst/>
              <a:cxnLst/>
              <a:rect l="l" t="t" r="r" b="b"/>
              <a:pathLst>
                <a:path w="1319254" h="1319254">
                  <a:moveTo>
                    <a:pt x="92735" y="0"/>
                  </a:moveTo>
                  <a:lnTo>
                    <a:pt x="1226518" y="0"/>
                  </a:lnTo>
                  <a:cubicBezTo>
                    <a:pt x="1277735" y="0"/>
                    <a:pt x="1319254" y="41519"/>
                    <a:pt x="1319254" y="92735"/>
                  </a:cubicBezTo>
                  <a:lnTo>
                    <a:pt x="1319254" y="1226518"/>
                  </a:lnTo>
                  <a:cubicBezTo>
                    <a:pt x="1319254" y="1251113"/>
                    <a:pt x="1309483" y="1274701"/>
                    <a:pt x="1292092" y="1292092"/>
                  </a:cubicBezTo>
                  <a:cubicBezTo>
                    <a:pt x="1274701" y="1309483"/>
                    <a:pt x="1251113" y="1319254"/>
                    <a:pt x="1226518" y="1319254"/>
                  </a:cubicBezTo>
                  <a:lnTo>
                    <a:pt x="92735" y="1319254"/>
                  </a:lnTo>
                  <a:cubicBezTo>
                    <a:pt x="68140" y="1319254"/>
                    <a:pt x="44553" y="1309483"/>
                    <a:pt x="27162" y="1292092"/>
                  </a:cubicBezTo>
                  <a:cubicBezTo>
                    <a:pt x="9770" y="1274701"/>
                    <a:pt x="0" y="1251113"/>
                    <a:pt x="0" y="1226518"/>
                  </a:cubicBezTo>
                  <a:lnTo>
                    <a:pt x="0" y="92735"/>
                  </a:lnTo>
                  <a:cubicBezTo>
                    <a:pt x="0" y="68140"/>
                    <a:pt x="9770" y="44553"/>
                    <a:pt x="27162" y="27162"/>
                  </a:cubicBezTo>
                  <a:cubicBezTo>
                    <a:pt x="44553" y="9770"/>
                    <a:pt x="68140" y="0"/>
                    <a:pt x="92735" y="0"/>
                  </a:cubicBezTo>
                  <a:close/>
                </a:path>
              </a:pathLst>
            </a:custGeom>
            <a:solidFill>
              <a:srgbClr val="FFFDF9"/>
            </a:solidFill>
            <a:ln w="38100" cap="rnd">
              <a:solidFill>
                <a:srgbClr val="593EA1"/>
              </a:solidFill>
              <a:prstDash val="solid"/>
              <a:round/>
            </a:ln>
          </p:spPr>
          <p:txBody>
            <a:bodyPr/>
            <a:lstStyle/>
            <a:p>
              <a:endParaRPr lang="en-US"/>
            </a:p>
          </p:txBody>
        </p:sp>
        <p:sp>
          <p:nvSpPr>
            <p:cNvPr id="7" name="TextBox 7"/>
            <p:cNvSpPr txBox="1"/>
            <p:nvPr/>
          </p:nvSpPr>
          <p:spPr>
            <a:xfrm>
              <a:off x="0" y="-38100"/>
              <a:ext cx="1319254" cy="1357354"/>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7606661" y="3243771"/>
            <a:ext cx="5568194" cy="579184"/>
          </a:xfrm>
          <a:prstGeom prst="rect">
            <a:avLst/>
          </a:prstGeom>
        </p:spPr>
        <p:txBody>
          <a:bodyPr lIns="0" tIns="0" rIns="0" bIns="0" rtlCol="0" anchor="t">
            <a:spAutoFit/>
          </a:bodyPr>
          <a:lstStyle/>
          <a:p>
            <a:pPr algn="l">
              <a:lnSpc>
                <a:spcPts val="4648"/>
              </a:lnSpc>
            </a:pPr>
            <a:r>
              <a:rPr lang="en-US" sz="3320">
                <a:solidFill>
                  <a:srgbClr val="593EA1"/>
                </a:solidFill>
                <a:latin typeface="Bubblebody Neue"/>
                <a:ea typeface="Bubblebody Neue"/>
                <a:cs typeface="Bubblebody Neue"/>
                <a:sym typeface="Bubblebody Neue"/>
              </a:rPr>
              <a:t>KEGG Pathways</a:t>
            </a:r>
          </a:p>
        </p:txBody>
      </p:sp>
      <p:grpSp>
        <p:nvGrpSpPr>
          <p:cNvPr id="9" name="Group 9"/>
          <p:cNvGrpSpPr/>
          <p:nvPr/>
        </p:nvGrpSpPr>
        <p:grpSpPr>
          <a:xfrm>
            <a:off x="12250259" y="2963402"/>
            <a:ext cx="5009041" cy="5009041"/>
            <a:chOff x="0" y="0"/>
            <a:chExt cx="1319254" cy="1319254"/>
          </a:xfrm>
        </p:grpSpPr>
        <p:sp>
          <p:nvSpPr>
            <p:cNvPr id="10" name="Freeform 10"/>
            <p:cNvSpPr/>
            <p:nvPr/>
          </p:nvSpPr>
          <p:spPr>
            <a:xfrm>
              <a:off x="0" y="0"/>
              <a:ext cx="1319254" cy="1319254"/>
            </a:xfrm>
            <a:custGeom>
              <a:avLst/>
              <a:gdLst/>
              <a:ahLst/>
              <a:cxnLst/>
              <a:rect l="l" t="t" r="r" b="b"/>
              <a:pathLst>
                <a:path w="1319254" h="1319254">
                  <a:moveTo>
                    <a:pt x="92735" y="0"/>
                  </a:moveTo>
                  <a:lnTo>
                    <a:pt x="1226518" y="0"/>
                  </a:lnTo>
                  <a:cubicBezTo>
                    <a:pt x="1277735" y="0"/>
                    <a:pt x="1319254" y="41519"/>
                    <a:pt x="1319254" y="92735"/>
                  </a:cubicBezTo>
                  <a:lnTo>
                    <a:pt x="1319254" y="1226518"/>
                  </a:lnTo>
                  <a:cubicBezTo>
                    <a:pt x="1319254" y="1251113"/>
                    <a:pt x="1309483" y="1274701"/>
                    <a:pt x="1292092" y="1292092"/>
                  </a:cubicBezTo>
                  <a:cubicBezTo>
                    <a:pt x="1274701" y="1309483"/>
                    <a:pt x="1251113" y="1319254"/>
                    <a:pt x="1226518" y="1319254"/>
                  </a:cubicBezTo>
                  <a:lnTo>
                    <a:pt x="92735" y="1319254"/>
                  </a:lnTo>
                  <a:cubicBezTo>
                    <a:pt x="68140" y="1319254"/>
                    <a:pt x="44553" y="1309483"/>
                    <a:pt x="27162" y="1292092"/>
                  </a:cubicBezTo>
                  <a:cubicBezTo>
                    <a:pt x="9770" y="1274701"/>
                    <a:pt x="0" y="1251113"/>
                    <a:pt x="0" y="1226518"/>
                  </a:cubicBezTo>
                  <a:lnTo>
                    <a:pt x="0" y="92735"/>
                  </a:lnTo>
                  <a:cubicBezTo>
                    <a:pt x="0" y="68140"/>
                    <a:pt x="9770" y="44553"/>
                    <a:pt x="27162" y="27162"/>
                  </a:cubicBezTo>
                  <a:cubicBezTo>
                    <a:pt x="44553" y="9770"/>
                    <a:pt x="68140" y="0"/>
                    <a:pt x="92735" y="0"/>
                  </a:cubicBezTo>
                  <a:close/>
                </a:path>
              </a:pathLst>
            </a:custGeom>
            <a:solidFill>
              <a:srgbClr val="593EA1"/>
            </a:solidFill>
            <a:ln cap="rnd">
              <a:noFill/>
              <a:prstDash val="solid"/>
              <a:round/>
            </a:ln>
          </p:spPr>
          <p:txBody>
            <a:bodyPr/>
            <a:lstStyle/>
            <a:p>
              <a:endParaRPr lang="en-US"/>
            </a:p>
          </p:txBody>
        </p:sp>
        <p:sp>
          <p:nvSpPr>
            <p:cNvPr id="11" name="TextBox 11"/>
            <p:cNvSpPr txBox="1"/>
            <p:nvPr/>
          </p:nvSpPr>
          <p:spPr>
            <a:xfrm>
              <a:off x="0" y="-38100"/>
              <a:ext cx="1319254" cy="1357354"/>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3439541" y="3310466"/>
            <a:ext cx="5356144" cy="569554"/>
          </a:xfrm>
          <a:prstGeom prst="rect">
            <a:avLst/>
          </a:prstGeom>
        </p:spPr>
        <p:txBody>
          <a:bodyPr lIns="0" tIns="0" rIns="0" bIns="0" rtlCol="0" anchor="t">
            <a:spAutoFit/>
          </a:bodyPr>
          <a:lstStyle/>
          <a:p>
            <a:pPr algn="l">
              <a:lnSpc>
                <a:spcPts val="4471"/>
              </a:lnSpc>
            </a:pPr>
            <a:r>
              <a:rPr lang="en-US" sz="3193">
                <a:solidFill>
                  <a:srgbClr val="A2DFD9"/>
                </a:solidFill>
                <a:latin typeface="Bubblebody Neue"/>
                <a:ea typeface="Bubblebody Neue"/>
                <a:cs typeface="Bubblebody Neue"/>
                <a:sym typeface="Bubblebody Neue"/>
              </a:rPr>
              <a:t>GSVA Method</a:t>
            </a:r>
          </a:p>
        </p:txBody>
      </p:sp>
      <p:sp>
        <p:nvSpPr>
          <p:cNvPr id="13" name="AutoShape 13"/>
          <p:cNvSpPr/>
          <p:nvPr/>
        </p:nvSpPr>
        <p:spPr>
          <a:xfrm>
            <a:off x="6037741" y="5467923"/>
            <a:ext cx="3106259" cy="2504521"/>
          </a:xfrm>
          <a:prstGeom prst="line">
            <a:avLst/>
          </a:prstGeom>
          <a:ln w="66675" cap="flat">
            <a:solidFill>
              <a:srgbClr val="593EA1"/>
            </a:solidFill>
            <a:prstDash val="sysDash"/>
            <a:headEnd type="none" w="sm" len="sm"/>
            <a:tailEnd type="none" w="sm" len="sm"/>
          </a:ln>
        </p:spPr>
        <p:txBody>
          <a:bodyPr/>
          <a:lstStyle/>
          <a:p>
            <a:endParaRPr lang="en-US"/>
          </a:p>
        </p:txBody>
      </p:sp>
      <p:sp>
        <p:nvSpPr>
          <p:cNvPr id="14" name="AutoShape 14"/>
          <p:cNvSpPr/>
          <p:nvPr/>
        </p:nvSpPr>
        <p:spPr>
          <a:xfrm>
            <a:off x="11648521" y="5467923"/>
            <a:ext cx="3106259" cy="2504521"/>
          </a:xfrm>
          <a:prstGeom prst="line">
            <a:avLst/>
          </a:prstGeom>
          <a:ln w="66675" cap="flat">
            <a:solidFill>
              <a:srgbClr val="593EA1"/>
            </a:solidFill>
            <a:prstDash val="sysDash"/>
            <a:headEnd type="none" w="sm" len="sm"/>
            <a:tailEnd type="none" w="sm" len="sm"/>
          </a:ln>
        </p:spPr>
        <p:txBody>
          <a:bodyPr/>
          <a:lstStyle/>
          <a:p>
            <a:endParaRPr lang="en-US"/>
          </a:p>
        </p:txBody>
      </p:sp>
      <p:sp>
        <p:nvSpPr>
          <p:cNvPr id="15" name="TextBox 15"/>
          <p:cNvSpPr txBox="1"/>
          <p:nvPr/>
        </p:nvSpPr>
        <p:spPr>
          <a:xfrm>
            <a:off x="3365152" y="819150"/>
            <a:ext cx="11557696" cy="1425574"/>
          </a:xfrm>
          <a:prstGeom prst="rect">
            <a:avLst/>
          </a:prstGeom>
        </p:spPr>
        <p:txBody>
          <a:bodyPr lIns="0" tIns="0" rIns="0" bIns="0" rtlCol="0" anchor="t">
            <a:spAutoFit/>
          </a:bodyPr>
          <a:lstStyle/>
          <a:p>
            <a:pPr algn="ctr">
              <a:lnSpc>
                <a:spcPts val="11200"/>
              </a:lnSpc>
            </a:pPr>
            <a:r>
              <a:rPr lang="en-US" sz="8000" b="1">
                <a:solidFill>
                  <a:srgbClr val="593EA1"/>
                </a:solidFill>
                <a:latin typeface="Bubblebody Neue Bold"/>
                <a:ea typeface="Bubblebody Neue Bold"/>
                <a:cs typeface="Bubblebody Neue Bold"/>
                <a:sym typeface="Bubblebody Neue Bold"/>
              </a:rPr>
              <a:t>Methodology</a:t>
            </a:r>
          </a:p>
        </p:txBody>
      </p:sp>
      <p:sp>
        <p:nvSpPr>
          <p:cNvPr id="16" name="TextBox 16"/>
          <p:cNvSpPr txBox="1"/>
          <p:nvPr/>
        </p:nvSpPr>
        <p:spPr>
          <a:xfrm>
            <a:off x="1794422" y="3127553"/>
            <a:ext cx="4436504" cy="944906"/>
          </a:xfrm>
          <a:prstGeom prst="rect">
            <a:avLst/>
          </a:prstGeom>
        </p:spPr>
        <p:txBody>
          <a:bodyPr lIns="0" tIns="0" rIns="0" bIns="0" rtlCol="0" anchor="t">
            <a:spAutoFit/>
          </a:bodyPr>
          <a:lstStyle/>
          <a:p>
            <a:pPr algn="l">
              <a:lnSpc>
                <a:spcPts val="3703"/>
              </a:lnSpc>
            </a:pPr>
            <a:r>
              <a:rPr lang="en-US" sz="2645">
                <a:solidFill>
                  <a:srgbClr val="A2DFD9"/>
                </a:solidFill>
                <a:latin typeface="Bubblebody Neue"/>
                <a:ea typeface="Bubblebody Neue"/>
                <a:cs typeface="Bubblebody Neue"/>
                <a:sym typeface="Bubblebody Neue"/>
              </a:rPr>
              <a:t>GO (Gene Ontology)</a:t>
            </a:r>
          </a:p>
          <a:p>
            <a:pPr algn="l">
              <a:lnSpc>
                <a:spcPts val="3703"/>
              </a:lnSpc>
            </a:pPr>
            <a:r>
              <a:rPr lang="en-US" sz="2645">
                <a:solidFill>
                  <a:srgbClr val="A2DFD9"/>
                </a:solidFill>
                <a:latin typeface="Bubblebody Neue"/>
                <a:ea typeface="Bubblebody Neue"/>
                <a:cs typeface="Bubblebody Neue"/>
                <a:sym typeface="Bubblebody Neue"/>
              </a:rPr>
              <a:t>Enrichment Analysis</a:t>
            </a:r>
          </a:p>
        </p:txBody>
      </p:sp>
      <p:sp>
        <p:nvSpPr>
          <p:cNvPr id="17" name="Freeform 17"/>
          <p:cNvSpPr/>
          <p:nvPr/>
        </p:nvSpPr>
        <p:spPr>
          <a:xfrm rot="-5820136">
            <a:off x="15909502" y="-889967"/>
            <a:ext cx="3597844" cy="4114800"/>
          </a:xfrm>
          <a:custGeom>
            <a:avLst/>
            <a:gdLst/>
            <a:ahLst/>
            <a:cxnLst/>
            <a:rect l="l" t="t" r="r" b="b"/>
            <a:pathLst>
              <a:path w="3597844" h="4114800">
                <a:moveTo>
                  <a:pt x="0" y="0"/>
                </a:moveTo>
                <a:lnTo>
                  <a:pt x="3597844" y="0"/>
                </a:lnTo>
                <a:lnTo>
                  <a:pt x="359784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8" name="Freeform 18"/>
          <p:cNvSpPr/>
          <p:nvPr/>
        </p:nvSpPr>
        <p:spPr>
          <a:xfrm flipH="1">
            <a:off x="-2736219" y="-365961"/>
            <a:ext cx="5472439" cy="3066788"/>
          </a:xfrm>
          <a:custGeom>
            <a:avLst/>
            <a:gdLst/>
            <a:ahLst/>
            <a:cxnLst/>
            <a:rect l="l" t="t" r="r" b="b"/>
            <a:pathLst>
              <a:path w="5472439" h="3066788">
                <a:moveTo>
                  <a:pt x="5472438" y="0"/>
                </a:moveTo>
                <a:lnTo>
                  <a:pt x="0" y="0"/>
                </a:lnTo>
                <a:lnTo>
                  <a:pt x="0" y="3066788"/>
                </a:lnTo>
                <a:lnTo>
                  <a:pt x="5472438" y="3066788"/>
                </a:lnTo>
                <a:lnTo>
                  <a:pt x="5472438"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9" name="TextBox 19"/>
          <p:cNvSpPr txBox="1"/>
          <p:nvPr/>
        </p:nvSpPr>
        <p:spPr>
          <a:xfrm>
            <a:off x="1319741" y="4024834"/>
            <a:ext cx="4426960" cy="3564423"/>
          </a:xfrm>
          <a:prstGeom prst="rect">
            <a:avLst/>
          </a:prstGeom>
        </p:spPr>
        <p:txBody>
          <a:bodyPr lIns="0" tIns="0" rIns="0" bIns="0" rtlCol="0" anchor="t">
            <a:spAutoFit/>
          </a:bodyPr>
          <a:lstStyle/>
          <a:p>
            <a:pPr algn="ctr">
              <a:lnSpc>
                <a:spcPts val="3560"/>
              </a:lnSpc>
              <a:spcBef>
                <a:spcPct val="0"/>
              </a:spcBef>
            </a:pPr>
            <a:r>
              <a:rPr lang="en-US" sz="2543">
                <a:solidFill>
                  <a:srgbClr val="000000"/>
                </a:solidFill>
                <a:latin typeface="Canva Sans"/>
                <a:ea typeface="Canva Sans"/>
                <a:cs typeface="Canva Sans"/>
                <a:sym typeface="Canva Sans"/>
              </a:rPr>
              <a:t>Used to identify whether specific biological processes, cellular components, or molecular functions are significantly overrepresented in a set of genes (e.g., differentially expressed genes).</a:t>
            </a:r>
          </a:p>
        </p:txBody>
      </p:sp>
      <p:sp>
        <p:nvSpPr>
          <p:cNvPr id="20" name="TextBox 20"/>
          <p:cNvSpPr txBox="1"/>
          <p:nvPr/>
        </p:nvSpPr>
        <p:spPr>
          <a:xfrm>
            <a:off x="727831" y="7924818"/>
            <a:ext cx="5610779" cy="878373"/>
          </a:xfrm>
          <a:prstGeom prst="rect">
            <a:avLst/>
          </a:prstGeom>
        </p:spPr>
        <p:txBody>
          <a:bodyPr lIns="0" tIns="0" rIns="0" bIns="0" rtlCol="0" anchor="t">
            <a:spAutoFit/>
          </a:bodyPr>
          <a:lstStyle/>
          <a:p>
            <a:pPr algn="ctr">
              <a:lnSpc>
                <a:spcPts val="3560"/>
              </a:lnSpc>
              <a:spcBef>
                <a:spcPct val="0"/>
              </a:spcBef>
            </a:pPr>
            <a:r>
              <a:rPr lang="en-US" sz="2543">
                <a:solidFill>
                  <a:srgbClr val="000000"/>
                </a:solidFill>
                <a:latin typeface="Canva Sans"/>
                <a:ea typeface="Canva Sans"/>
                <a:cs typeface="Canva Sans"/>
                <a:sym typeface="Canva Sans"/>
              </a:rPr>
              <a:t>Focuses on general biological functions and annotations</a:t>
            </a:r>
          </a:p>
        </p:txBody>
      </p:sp>
      <p:sp>
        <p:nvSpPr>
          <p:cNvPr id="21" name="TextBox 21"/>
          <p:cNvSpPr txBox="1"/>
          <p:nvPr/>
        </p:nvSpPr>
        <p:spPr>
          <a:xfrm>
            <a:off x="6719885" y="4034359"/>
            <a:ext cx="4439678" cy="3542965"/>
          </a:xfrm>
          <a:prstGeom prst="rect">
            <a:avLst/>
          </a:prstGeom>
        </p:spPr>
        <p:txBody>
          <a:bodyPr lIns="0" tIns="0" rIns="0" bIns="0" rtlCol="0" anchor="t">
            <a:spAutoFit/>
          </a:bodyPr>
          <a:lstStyle/>
          <a:p>
            <a:pPr algn="ctr">
              <a:lnSpc>
                <a:spcPts val="3147"/>
              </a:lnSpc>
            </a:pPr>
            <a:r>
              <a:rPr lang="en-US" sz="2248">
                <a:solidFill>
                  <a:srgbClr val="000000"/>
                </a:solidFill>
                <a:latin typeface="Canva Sans"/>
                <a:ea typeface="Canva Sans"/>
                <a:cs typeface="Canva Sans"/>
                <a:sym typeface="Canva Sans"/>
              </a:rPr>
              <a:t>Key Difference:</a:t>
            </a:r>
          </a:p>
          <a:p>
            <a:pPr marL="485457" lvl="1" indent="-242728" algn="ctr">
              <a:lnSpc>
                <a:spcPts val="3147"/>
              </a:lnSpc>
              <a:spcBef>
                <a:spcPct val="0"/>
              </a:spcBef>
              <a:buFont typeface="Arial"/>
              <a:buChar char="•"/>
            </a:pPr>
            <a:r>
              <a:rPr lang="en-US" sz="2248">
                <a:solidFill>
                  <a:srgbClr val="000000"/>
                </a:solidFill>
                <a:latin typeface="Canva Sans"/>
                <a:ea typeface="Canva Sans"/>
                <a:cs typeface="Canva Sans"/>
                <a:sym typeface="Canva Sans"/>
              </a:rPr>
              <a:t>GO terms describe what functions or locations genes are associated with.</a:t>
            </a:r>
          </a:p>
          <a:p>
            <a:pPr marL="485457" lvl="1" indent="-242728" algn="ctr">
              <a:lnSpc>
                <a:spcPts val="3147"/>
              </a:lnSpc>
              <a:spcBef>
                <a:spcPct val="0"/>
              </a:spcBef>
              <a:buFont typeface="Arial"/>
              <a:buChar char="•"/>
            </a:pPr>
            <a:r>
              <a:rPr lang="en-US" sz="2248">
                <a:solidFill>
                  <a:srgbClr val="000000"/>
                </a:solidFill>
                <a:latin typeface="Canva Sans"/>
                <a:ea typeface="Canva Sans"/>
                <a:cs typeface="Canva Sans"/>
                <a:sym typeface="Canva Sans"/>
              </a:rPr>
              <a:t>KEGG pathways describe how genes interact in biological systems to perform these functions</a:t>
            </a:r>
          </a:p>
          <a:p>
            <a:pPr algn="ctr">
              <a:lnSpc>
                <a:spcPts val="3147"/>
              </a:lnSpc>
              <a:spcBef>
                <a:spcPct val="0"/>
              </a:spcBef>
            </a:pPr>
            <a:endParaRPr lang="en-US" sz="2248">
              <a:solidFill>
                <a:srgbClr val="000000"/>
              </a:solidFill>
              <a:latin typeface="Canva Sans"/>
              <a:ea typeface="Canva Sans"/>
              <a:cs typeface="Canva Sans"/>
              <a:sym typeface="Canva Sans"/>
            </a:endParaRPr>
          </a:p>
        </p:txBody>
      </p:sp>
      <p:sp>
        <p:nvSpPr>
          <p:cNvPr id="22" name="TextBox 22"/>
          <p:cNvSpPr txBox="1"/>
          <p:nvPr/>
        </p:nvSpPr>
        <p:spPr>
          <a:xfrm>
            <a:off x="12620071" y="3841921"/>
            <a:ext cx="4214467" cy="3944949"/>
          </a:xfrm>
          <a:prstGeom prst="rect">
            <a:avLst/>
          </a:prstGeom>
        </p:spPr>
        <p:txBody>
          <a:bodyPr lIns="0" tIns="0" rIns="0" bIns="0" rtlCol="0" anchor="t">
            <a:spAutoFit/>
          </a:bodyPr>
          <a:lstStyle/>
          <a:p>
            <a:pPr algn="ctr">
              <a:lnSpc>
                <a:spcPts val="3152"/>
              </a:lnSpc>
              <a:spcBef>
                <a:spcPct val="0"/>
              </a:spcBef>
            </a:pPr>
            <a:r>
              <a:rPr lang="en-US" sz="2252">
                <a:solidFill>
                  <a:srgbClr val="000000"/>
                </a:solidFill>
                <a:latin typeface="Canva Sans"/>
                <a:ea typeface="Canva Sans"/>
                <a:cs typeface="Canva Sans"/>
                <a:sym typeface="Canva Sans"/>
              </a:rPr>
              <a:t>GSVA is a method used in bioinformatics to calculate how active a group of genes (a gene set or pathway) is in a sample. Instead of analyzing individual genes, GSVA focuses on groups of genes that work together to perform a biological function (e.g., a signaling pathway).</a:t>
            </a:r>
          </a:p>
        </p:txBody>
      </p:sp>
      <p:sp>
        <p:nvSpPr>
          <p:cNvPr id="23" name="TextBox 23"/>
          <p:cNvSpPr txBox="1"/>
          <p:nvPr/>
        </p:nvSpPr>
        <p:spPr>
          <a:xfrm>
            <a:off x="12487177" y="8115318"/>
            <a:ext cx="4772123" cy="1773723"/>
          </a:xfrm>
          <a:prstGeom prst="rect">
            <a:avLst/>
          </a:prstGeom>
        </p:spPr>
        <p:txBody>
          <a:bodyPr lIns="0" tIns="0" rIns="0" bIns="0" rtlCol="0" anchor="t">
            <a:spAutoFit/>
          </a:bodyPr>
          <a:lstStyle/>
          <a:p>
            <a:pPr algn="ctr">
              <a:lnSpc>
                <a:spcPts val="3560"/>
              </a:lnSpc>
              <a:spcBef>
                <a:spcPct val="0"/>
              </a:spcBef>
            </a:pPr>
            <a:r>
              <a:rPr lang="en-US" sz="2543">
                <a:solidFill>
                  <a:srgbClr val="000000"/>
                </a:solidFill>
                <a:latin typeface="Canva Sans"/>
                <a:ea typeface="Canva Sans"/>
                <a:cs typeface="Canva Sans"/>
                <a:sym typeface="Canva Sans"/>
              </a:rPr>
              <a:t>Most important factor for determining the kind of sybtype of Glioma in the patient.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TextBox 2"/>
          <p:cNvSpPr txBox="1"/>
          <p:nvPr/>
        </p:nvSpPr>
        <p:spPr>
          <a:xfrm>
            <a:off x="3365152" y="819150"/>
            <a:ext cx="11557696" cy="1425574"/>
          </a:xfrm>
          <a:prstGeom prst="rect">
            <a:avLst/>
          </a:prstGeom>
        </p:spPr>
        <p:txBody>
          <a:bodyPr lIns="0" tIns="0" rIns="0" bIns="0" rtlCol="0" anchor="t">
            <a:spAutoFit/>
          </a:bodyPr>
          <a:lstStyle/>
          <a:p>
            <a:pPr algn="ctr">
              <a:lnSpc>
                <a:spcPts val="11200"/>
              </a:lnSpc>
            </a:pPr>
            <a:r>
              <a:rPr lang="en-US" sz="8000" b="1">
                <a:solidFill>
                  <a:srgbClr val="593EA1"/>
                </a:solidFill>
                <a:latin typeface="Bubblebody Neue Bold"/>
                <a:ea typeface="Bubblebody Neue Bold"/>
                <a:cs typeface="Bubblebody Neue Bold"/>
                <a:sym typeface="Bubblebody Neue Bold"/>
              </a:rPr>
              <a:t>Results</a:t>
            </a:r>
          </a:p>
        </p:txBody>
      </p:sp>
      <p:sp>
        <p:nvSpPr>
          <p:cNvPr id="3" name="TextBox 3"/>
          <p:cNvSpPr txBox="1"/>
          <p:nvPr/>
        </p:nvSpPr>
        <p:spPr>
          <a:xfrm>
            <a:off x="4625081" y="3671570"/>
            <a:ext cx="9037838" cy="1471930"/>
          </a:xfrm>
          <a:prstGeom prst="rect">
            <a:avLst/>
          </a:prstGeom>
        </p:spPr>
        <p:txBody>
          <a:bodyPr lIns="0" tIns="0" rIns="0" bIns="0" rtlCol="0" anchor="t">
            <a:spAutoFit/>
          </a:bodyPr>
          <a:lstStyle/>
          <a:p>
            <a:pPr algn="l">
              <a:lnSpc>
                <a:spcPts val="3919"/>
              </a:lnSpc>
            </a:pPr>
            <a:r>
              <a:rPr lang="en-US" sz="2799">
                <a:solidFill>
                  <a:srgbClr val="000000"/>
                </a:solidFill>
                <a:latin typeface="Canva Sans"/>
                <a:ea typeface="Canva Sans"/>
                <a:cs typeface="Canva Sans"/>
                <a:sym typeface="Canva Sans"/>
              </a:rPr>
              <a:t> </a:t>
            </a:r>
          </a:p>
          <a:p>
            <a:pPr algn="l">
              <a:lnSpc>
                <a:spcPts val="3919"/>
              </a:lnSpc>
            </a:pPr>
            <a:endParaRPr lang="en-US" sz="2799">
              <a:solidFill>
                <a:srgbClr val="000000"/>
              </a:solidFill>
              <a:latin typeface="Canva Sans"/>
              <a:ea typeface="Canva Sans"/>
              <a:cs typeface="Canva Sans"/>
              <a:sym typeface="Canva Sans"/>
            </a:endParaRPr>
          </a:p>
          <a:p>
            <a:pPr algn="l">
              <a:lnSpc>
                <a:spcPts val="3919"/>
              </a:lnSpc>
            </a:pPr>
            <a:r>
              <a:rPr lang="en-US" sz="2799">
                <a:solidFill>
                  <a:srgbClr val="000000"/>
                </a:solidFill>
                <a:latin typeface="Canva Sans"/>
                <a:ea typeface="Canva Sans"/>
                <a:cs typeface="Canva Sans"/>
                <a:sym typeface="Canva Sans"/>
              </a:rPr>
              <a:t>Accuracy of 0.549 which is approximately 55% .</a:t>
            </a:r>
          </a:p>
        </p:txBody>
      </p:sp>
      <p:sp>
        <p:nvSpPr>
          <p:cNvPr id="4" name="Freeform 4"/>
          <p:cNvSpPr/>
          <p:nvPr/>
        </p:nvSpPr>
        <p:spPr>
          <a:xfrm>
            <a:off x="1304784" y="9158737"/>
            <a:ext cx="3539193" cy="199127"/>
          </a:xfrm>
          <a:custGeom>
            <a:avLst/>
            <a:gdLst/>
            <a:ahLst/>
            <a:cxnLst/>
            <a:rect l="l" t="t" r="r" b="b"/>
            <a:pathLst>
              <a:path w="3539193" h="199127">
                <a:moveTo>
                  <a:pt x="0" y="0"/>
                </a:moveTo>
                <a:lnTo>
                  <a:pt x="3539192" y="0"/>
                </a:lnTo>
                <a:lnTo>
                  <a:pt x="3539192" y="199126"/>
                </a:lnTo>
                <a:lnTo>
                  <a:pt x="0" y="1991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5820136">
            <a:off x="15909502" y="-889967"/>
            <a:ext cx="3597844" cy="4114800"/>
          </a:xfrm>
          <a:custGeom>
            <a:avLst/>
            <a:gdLst/>
            <a:ahLst/>
            <a:cxnLst/>
            <a:rect l="l" t="t" r="r" b="b"/>
            <a:pathLst>
              <a:path w="3597844" h="4114800">
                <a:moveTo>
                  <a:pt x="0" y="0"/>
                </a:moveTo>
                <a:lnTo>
                  <a:pt x="3597844" y="0"/>
                </a:lnTo>
                <a:lnTo>
                  <a:pt x="359784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flipH="1">
            <a:off x="-2736219" y="-365961"/>
            <a:ext cx="5472439" cy="3066788"/>
          </a:xfrm>
          <a:custGeom>
            <a:avLst/>
            <a:gdLst/>
            <a:ahLst/>
            <a:cxnLst/>
            <a:rect l="l" t="t" r="r" b="b"/>
            <a:pathLst>
              <a:path w="5472439" h="3066788">
                <a:moveTo>
                  <a:pt x="5472438" y="0"/>
                </a:moveTo>
                <a:lnTo>
                  <a:pt x="0" y="0"/>
                </a:lnTo>
                <a:lnTo>
                  <a:pt x="0" y="3066788"/>
                </a:lnTo>
                <a:lnTo>
                  <a:pt x="5472438" y="3066788"/>
                </a:lnTo>
                <a:lnTo>
                  <a:pt x="5472438"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TextBox 7"/>
          <p:cNvSpPr txBox="1"/>
          <p:nvPr/>
        </p:nvSpPr>
        <p:spPr>
          <a:xfrm>
            <a:off x="4625081" y="3156128"/>
            <a:ext cx="9037838" cy="878373"/>
          </a:xfrm>
          <a:prstGeom prst="rect">
            <a:avLst/>
          </a:prstGeom>
        </p:spPr>
        <p:txBody>
          <a:bodyPr lIns="0" tIns="0" rIns="0" bIns="0" rtlCol="0" anchor="t">
            <a:spAutoFit/>
          </a:bodyPr>
          <a:lstStyle/>
          <a:p>
            <a:pPr algn="ctr">
              <a:lnSpc>
                <a:spcPts val="3560"/>
              </a:lnSpc>
              <a:spcBef>
                <a:spcPct val="0"/>
              </a:spcBef>
            </a:pPr>
            <a:r>
              <a:rPr lang="en-US" sz="2543">
                <a:solidFill>
                  <a:srgbClr val="000000"/>
                </a:solidFill>
                <a:latin typeface="Canva Sans"/>
                <a:ea typeface="Canva Sans"/>
                <a:cs typeface="Canva Sans"/>
                <a:sym typeface="Canva Sans"/>
              </a:rPr>
              <a:t>Built a Machine learning model to indicate the subtypes of Glioma in the patient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2196926" y="4465407"/>
            <a:ext cx="13894148" cy="2472646"/>
            <a:chOff x="0" y="0"/>
            <a:chExt cx="3659364" cy="651232"/>
          </a:xfrm>
        </p:grpSpPr>
        <p:sp>
          <p:nvSpPr>
            <p:cNvPr id="3" name="Freeform 3"/>
            <p:cNvSpPr/>
            <p:nvPr/>
          </p:nvSpPr>
          <p:spPr>
            <a:xfrm>
              <a:off x="0" y="0"/>
              <a:ext cx="3659364" cy="651232"/>
            </a:xfrm>
            <a:custGeom>
              <a:avLst/>
              <a:gdLst/>
              <a:ahLst/>
              <a:cxnLst/>
              <a:rect l="l" t="t" r="r" b="b"/>
              <a:pathLst>
                <a:path w="3659364" h="651232">
                  <a:moveTo>
                    <a:pt x="33432" y="0"/>
                  </a:moveTo>
                  <a:lnTo>
                    <a:pt x="3625932" y="0"/>
                  </a:lnTo>
                  <a:cubicBezTo>
                    <a:pt x="3634799" y="0"/>
                    <a:pt x="3643302" y="3522"/>
                    <a:pt x="3649572" y="9792"/>
                  </a:cubicBezTo>
                  <a:cubicBezTo>
                    <a:pt x="3655842" y="16062"/>
                    <a:pt x="3659364" y="24566"/>
                    <a:pt x="3659364" y="33432"/>
                  </a:cubicBezTo>
                  <a:lnTo>
                    <a:pt x="3659364" y="617799"/>
                  </a:lnTo>
                  <a:cubicBezTo>
                    <a:pt x="3659364" y="636264"/>
                    <a:pt x="3644396" y="651232"/>
                    <a:pt x="3625932" y="651232"/>
                  </a:cubicBezTo>
                  <a:lnTo>
                    <a:pt x="33432" y="651232"/>
                  </a:lnTo>
                  <a:cubicBezTo>
                    <a:pt x="14968" y="651232"/>
                    <a:pt x="0" y="636264"/>
                    <a:pt x="0" y="617799"/>
                  </a:cubicBezTo>
                  <a:lnTo>
                    <a:pt x="0" y="33432"/>
                  </a:lnTo>
                  <a:cubicBezTo>
                    <a:pt x="0" y="14968"/>
                    <a:pt x="14968" y="0"/>
                    <a:pt x="33432" y="0"/>
                  </a:cubicBezTo>
                  <a:close/>
                </a:path>
              </a:pathLst>
            </a:custGeom>
            <a:solidFill>
              <a:srgbClr val="593EA1"/>
            </a:solidFill>
          </p:spPr>
          <p:txBody>
            <a:bodyPr/>
            <a:lstStyle/>
            <a:p>
              <a:endParaRPr lang="en-US"/>
            </a:p>
          </p:txBody>
        </p:sp>
        <p:sp>
          <p:nvSpPr>
            <p:cNvPr id="4" name="TextBox 4"/>
            <p:cNvSpPr txBox="1"/>
            <p:nvPr/>
          </p:nvSpPr>
          <p:spPr>
            <a:xfrm>
              <a:off x="0" y="-38100"/>
              <a:ext cx="3659364" cy="689332"/>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7374404" y="9158737"/>
            <a:ext cx="3539193" cy="199127"/>
          </a:xfrm>
          <a:custGeom>
            <a:avLst/>
            <a:gdLst/>
            <a:ahLst/>
            <a:cxnLst/>
            <a:rect l="l" t="t" r="r" b="b"/>
            <a:pathLst>
              <a:path w="3539193" h="199127">
                <a:moveTo>
                  <a:pt x="0" y="0"/>
                </a:moveTo>
                <a:lnTo>
                  <a:pt x="3539192" y="0"/>
                </a:lnTo>
                <a:lnTo>
                  <a:pt x="3539192" y="199126"/>
                </a:lnTo>
                <a:lnTo>
                  <a:pt x="0" y="1991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3365152" y="819150"/>
            <a:ext cx="11557696" cy="1425574"/>
          </a:xfrm>
          <a:prstGeom prst="rect">
            <a:avLst/>
          </a:prstGeom>
        </p:spPr>
        <p:txBody>
          <a:bodyPr lIns="0" tIns="0" rIns="0" bIns="0" rtlCol="0" anchor="t">
            <a:spAutoFit/>
          </a:bodyPr>
          <a:lstStyle/>
          <a:p>
            <a:pPr algn="ctr">
              <a:lnSpc>
                <a:spcPts val="11200"/>
              </a:lnSpc>
            </a:pPr>
            <a:r>
              <a:rPr lang="en-US" sz="8000" b="1">
                <a:solidFill>
                  <a:srgbClr val="593EA1"/>
                </a:solidFill>
                <a:latin typeface="Bubblebody Neue Bold"/>
                <a:ea typeface="Bubblebody Neue Bold"/>
                <a:cs typeface="Bubblebody Neue Bold"/>
                <a:sym typeface="Bubblebody Neue Bold"/>
              </a:rPr>
              <a:t>Limitations</a:t>
            </a:r>
          </a:p>
        </p:txBody>
      </p:sp>
      <p:sp>
        <p:nvSpPr>
          <p:cNvPr id="7" name="Freeform 7"/>
          <p:cNvSpPr/>
          <p:nvPr/>
        </p:nvSpPr>
        <p:spPr>
          <a:xfrm rot="-5820136">
            <a:off x="15909502" y="-889967"/>
            <a:ext cx="3597844" cy="4114800"/>
          </a:xfrm>
          <a:custGeom>
            <a:avLst/>
            <a:gdLst/>
            <a:ahLst/>
            <a:cxnLst/>
            <a:rect l="l" t="t" r="r" b="b"/>
            <a:pathLst>
              <a:path w="3597844" h="4114800">
                <a:moveTo>
                  <a:pt x="0" y="0"/>
                </a:moveTo>
                <a:lnTo>
                  <a:pt x="3597844" y="0"/>
                </a:lnTo>
                <a:lnTo>
                  <a:pt x="359784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flipH="1">
            <a:off x="-2736219" y="-365961"/>
            <a:ext cx="5472439" cy="3066788"/>
          </a:xfrm>
          <a:custGeom>
            <a:avLst/>
            <a:gdLst/>
            <a:ahLst/>
            <a:cxnLst/>
            <a:rect l="l" t="t" r="r" b="b"/>
            <a:pathLst>
              <a:path w="5472439" h="3066788">
                <a:moveTo>
                  <a:pt x="5472438" y="0"/>
                </a:moveTo>
                <a:lnTo>
                  <a:pt x="0" y="0"/>
                </a:lnTo>
                <a:lnTo>
                  <a:pt x="0" y="3066788"/>
                </a:lnTo>
                <a:lnTo>
                  <a:pt x="5472438" y="3066788"/>
                </a:lnTo>
                <a:lnTo>
                  <a:pt x="5472438"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TextBox 9"/>
          <p:cNvSpPr txBox="1"/>
          <p:nvPr/>
        </p:nvSpPr>
        <p:spPr>
          <a:xfrm>
            <a:off x="2196926" y="5238732"/>
            <a:ext cx="13894148" cy="878373"/>
          </a:xfrm>
          <a:prstGeom prst="rect">
            <a:avLst/>
          </a:prstGeom>
        </p:spPr>
        <p:txBody>
          <a:bodyPr lIns="0" tIns="0" rIns="0" bIns="0" rtlCol="0" anchor="t">
            <a:spAutoFit/>
          </a:bodyPr>
          <a:lstStyle/>
          <a:p>
            <a:pPr algn="ctr">
              <a:lnSpc>
                <a:spcPts val="3560"/>
              </a:lnSpc>
              <a:spcBef>
                <a:spcPct val="0"/>
              </a:spcBef>
            </a:pPr>
            <a:r>
              <a:rPr lang="en-US" sz="2543">
                <a:solidFill>
                  <a:srgbClr val="FFFFFF"/>
                </a:solidFill>
                <a:latin typeface="Canva Sans"/>
                <a:ea typeface="Canva Sans"/>
                <a:cs typeface="Canva Sans"/>
                <a:sym typeface="Canva Sans"/>
              </a:rPr>
              <a:t>The number of samples chosen in the dataset were too low so the accuracy of the model was low as well as we couldn’t train the model.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TextBox 2"/>
          <p:cNvSpPr txBox="1"/>
          <p:nvPr/>
        </p:nvSpPr>
        <p:spPr>
          <a:xfrm>
            <a:off x="3365152" y="819150"/>
            <a:ext cx="11557696" cy="1425574"/>
          </a:xfrm>
          <a:prstGeom prst="rect">
            <a:avLst/>
          </a:prstGeom>
        </p:spPr>
        <p:txBody>
          <a:bodyPr lIns="0" tIns="0" rIns="0" bIns="0" rtlCol="0" anchor="t">
            <a:spAutoFit/>
          </a:bodyPr>
          <a:lstStyle/>
          <a:p>
            <a:pPr algn="ctr">
              <a:lnSpc>
                <a:spcPts val="11200"/>
              </a:lnSpc>
            </a:pPr>
            <a:r>
              <a:rPr lang="en-US" sz="8000" b="1">
                <a:solidFill>
                  <a:srgbClr val="593EA1"/>
                </a:solidFill>
                <a:latin typeface="Bubblebody Neue Bold"/>
                <a:ea typeface="Bubblebody Neue Bold"/>
                <a:cs typeface="Bubblebody Neue Bold"/>
                <a:sym typeface="Bubblebody Neue Bold"/>
              </a:rPr>
              <a:t>Future Work</a:t>
            </a:r>
          </a:p>
        </p:txBody>
      </p:sp>
      <p:sp>
        <p:nvSpPr>
          <p:cNvPr id="3" name="TextBox 3"/>
          <p:cNvSpPr txBox="1"/>
          <p:nvPr/>
        </p:nvSpPr>
        <p:spPr>
          <a:xfrm>
            <a:off x="1304784" y="3427228"/>
            <a:ext cx="7202578" cy="3453130"/>
          </a:xfrm>
          <a:prstGeom prst="rect">
            <a:avLst/>
          </a:prstGeom>
        </p:spPr>
        <p:txBody>
          <a:bodyPr lIns="0" tIns="0" rIns="0" bIns="0" rtlCol="0" anchor="t">
            <a:spAutoFit/>
          </a:bodyPr>
          <a:lstStyle/>
          <a:p>
            <a:pPr algn="l">
              <a:lnSpc>
                <a:spcPts val="3919"/>
              </a:lnSpc>
            </a:pPr>
            <a:r>
              <a:rPr lang="en-US" sz="2799">
                <a:solidFill>
                  <a:srgbClr val="000000"/>
                </a:solidFill>
                <a:latin typeface="Canva Sans"/>
                <a:ea typeface="Canva Sans"/>
                <a:cs typeface="Canva Sans"/>
                <a:sym typeface="Canva Sans"/>
              </a:rPr>
              <a:t>Integration of more than one machine learning model.</a:t>
            </a:r>
          </a:p>
          <a:p>
            <a:pPr algn="l">
              <a:lnSpc>
                <a:spcPts val="3919"/>
              </a:lnSpc>
            </a:pPr>
            <a:r>
              <a:rPr lang="en-US" sz="2799">
                <a:solidFill>
                  <a:srgbClr val="000000"/>
                </a:solidFill>
                <a:latin typeface="Canva Sans"/>
                <a:ea typeface="Canva Sans"/>
                <a:cs typeface="Canva Sans"/>
                <a:sym typeface="Canva Sans"/>
              </a:rPr>
              <a:t>Develop interpretable AI models that not only predict glioma subtypes but also explain the biological mechanisms driving the predictions (e.g., key pathways or genes).</a:t>
            </a:r>
          </a:p>
        </p:txBody>
      </p:sp>
      <p:sp>
        <p:nvSpPr>
          <p:cNvPr id="4" name="Freeform 4"/>
          <p:cNvSpPr/>
          <p:nvPr/>
        </p:nvSpPr>
        <p:spPr>
          <a:xfrm>
            <a:off x="8507362" y="3484378"/>
            <a:ext cx="4543159" cy="4526638"/>
          </a:xfrm>
          <a:custGeom>
            <a:avLst/>
            <a:gdLst/>
            <a:ahLst/>
            <a:cxnLst/>
            <a:rect l="l" t="t" r="r" b="b"/>
            <a:pathLst>
              <a:path w="4543159" h="4526638">
                <a:moveTo>
                  <a:pt x="0" y="0"/>
                </a:moveTo>
                <a:lnTo>
                  <a:pt x="4543159" y="0"/>
                </a:lnTo>
                <a:lnTo>
                  <a:pt x="4543159" y="4526638"/>
                </a:lnTo>
                <a:lnTo>
                  <a:pt x="0" y="45266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3547457" y="3484378"/>
            <a:ext cx="3711843" cy="4526638"/>
          </a:xfrm>
          <a:custGeom>
            <a:avLst/>
            <a:gdLst/>
            <a:ahLst/>
            <a:cxnLst/>
            <a:rect l="l" t="t" r="r" b="b"/>
            <a:pathLst>
              <a:path w="3711843" h="4526638">
                <a:moveTo>
                  <a:pt x="0" y="0"/>
                </a:moveTo>
                <a:lnTo>
                  <a:pt x="3711843" y="0"/>
                </a:lnTo>
                <a:lnTo>
                  <a:pt x="3711843" y="4526638"/>
                </a:lnTo>
                <a:lnTo>
                  <a:pt x="0" y="45266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1304784" y="9158737"/>
            <a:ext cx="3539193" cy="199127"/>
          </a:xfrm>
          <a:custGeom>
            <a:avLst/>
            <a:gdLst/>
            <a:ahLst/>
            <a:cxnLst/>
            <a:rect l="l" t="t" r="r" b="b"/>
            <a:pathLst>
              <a:path w="3539193" h="199127">
                <a:moveTo>
                  <a:pt x="0" y="0"/>
                </a:moveTo>
                <a:lnTo>
                  <a:pt x="3539192" y="0"/>
                </a:lnTo>
                <a:lnTo>
                  <a:pt x="3539192" y="199126"/>
                </a:lnTo>
                <a:lnTo>
                  <a:pt x="0" y="1991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Freeform 7"/>
          <p:cNvSpPr/>
          <p:nvPr/>
        </p:nvSpPr>
        <p:spPr>
          <a:xfrm>
            <a:off x="15305955" y="-1045531"/>
            <a:ext cx="7315200" cy="3616754"/>
          </a:xfrm>
          <a:custGeom>
            <a:avLst/>
            <a:gdLst/>
            <a:ahLst/>
            <a:cxnLst/>
            <a:rect l="l" t="t" r="r" b="b"/>
            <a:pathLst>
              <a:path w="7315200" h="3616754">
                <a:moveTo>
                  <a:pt x="0" y="0"/>
                </a:moveTo>
                <a:lnTo>
                  <a:pt x="7315200" y="0"/>
                </a:lnTo>
                <a:lnTo>
                  <a:pt x="7315200" y="3616754"/>
                </a:lnTo>
                <a:lnTo>
                  <a:pt x="0" y="361675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8" name="Freeform 8"/>
          <p:cNvSpPr/>
          <p:nvPr/>
        </p:nvSpPr>
        <p:spPr>
          <a:xfrm>
            <a:off x="-2957713" y="-495565"/>
            <a:ext cx="5472439" cy="3066788"/>
          </a:xfrm>
          <a:custGeom>
            <a:avLst/>
            <a:gdLst/>
            <a:ahLst/>
            <a:cxnLst/>
            <a:rect l="l" t="t" r="r" b="b"/>
            <a:pathLst>
              <a:path w="5472439" h="3066788">
                <a:moveTo>
                  <a:pt x="0" y="0"/>
                </a:moveTo>
                <a:lnTo>
                  <a:pt x="5472439" y="0"/>
                </a:lnTo>
                <a:lnTo>
                  <a:pt x="5472439" y="3066788"/>
                </a:lnTo>
                <a:lnTo>
                  <a:pt x="0" y="306678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8CED6"/>
        </a:solidFill>
        <a:effectLst/>
      </p:bgPr>
    </p:bg>
    <p:spTree>
      <p:nvGrpSpPr>
        <p:cNvPr id="1" name=""/>
        <p:cNvGrpSpPr/>
        <p:nvPr/>
      </p:nvGrpSpPr>
      <p:grpSpPr>
        <a:xfrm>
          <a:off x="0" y="0"/>
          <a:ext cx="0" cy="0"/>
          <a:chOff x="0" y="0"/>
          <a:chExt cx="0" cy="0"/>
        </a:xfrm>
      </p:grpSpPr>
      <p:sp>
        <p:nvSpPr>
          <p:cNvPr id="2" name="Freeform 2"/>
          <p:cNvSpPr/>
          <p:nvPr/>
        </p:nvSpPr>
        <p:spPr>
          <a:xfrm>
            <a:off x="15270154" y="259320"/>
            <a:ext cx="5264788" cy="4114800"/>
          </a:xfrm>
          <a:custGeom>
            <a:avLst/>
            <a:gdLst/>
            <a:ahLst/>
            <a:cxnLst/>
            <a:rect l="l" t="t" r="r" b="b"/>
            <a:pathLst>
              <a:path w="5264788" h="4114800">
                <a:moveTo>
                  <a:pt x="0" y="0"/>
                </a:moveTo>
                <a:lnTo>
                  <a:pt x="5264788" y="0"/>
                </a:lnTo>
                <a:lnTo>
                  <a:pt x="526478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556270" y="5495908"/>
            <a:ext cx="3021165" cy="4315949"/>
          </a:xfrm>
          <a:custGeom>
            <a:avLst/>
            <a:gdLst/>
            <a:ahLst/>
            <a:cxnLst/>
            <a:rect l="l" t="t" r="r" b="b"/>
            <a:pathLst>
              <a:path w="3021165" h="4315949">
                <a:moveTo>
                  <a:pt x="0" y="0"/>
                </a:moveTo>
                <a:lnTo>
                  <a:pt x="3021165" y="0"/>
                </a:lnTo>
                <a:lnTo>
                  <a:pt x="3021165" y="4315949"/>
                </a:lnTo>
                <a:lnTo>
                  <a:pt x="0" y="43159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6681631" y="7653883"/>
            <a:ext cx="3644996" cy="3754209"/>
          </a:xfrm>
          <a:custGeom>
            <a:avLst/>
            <a:gdLst/>
            <a:ahLst/>
            <a:cxnLst/>
            <a:rect l="l" t="t" r="r" b="b"/>
            <a:pathLst>
              <a:path w="3644996" h="3754209">
                <a:moveTo>
                  <a:pt x="0" y="0"/>
                </a:moveTo>
                <a:lnTo>
                  <a:pt x="3644996" y="0"/>
                </a:lnTo>
                <a:lnTo>
                  <a:pt x="3644996" y="3754209"/>
                </a:lnTo>
                <a:lnTo>
                  <a:pt x="0" y="37542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a:off x="8433297" y="259320"/>
            <a:ext cx="3786660" cy="2630008"/>
          </a:xfrm>
          <a:custGeom>
            <a:avLst/>
            <a:gdLst/>
            <a:ahLst/>
            <a:cxnLst/>
            <a:rect l="l" t="t" r="r" b="b"/>
            <a:pathLst>
              <a:path w="3786660" h="2630008">
                <a:moveTo>
                  <a:pt x="0" y="0"/>
                </a:moveTo>
                <a:lnTo>
                  <a:pt x="3786660" y="0"/>
                </a:lnTo>
                <a:lnTo>
                  <a:pt x="3786660" y="2630008"/>
                </a:lnTo>
                <a:lnTo>
                  <a:pt x="0" y="263000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6" name="TextBox 6"/>
          <p:cNvSpPr txBox="1"/>
          <p:nvPr/>
        </p:nvSpPr>
        <p:spPr>
          <a:xfrm>
            <a:off x="3017846" y="4442270"/>
            <a:ext cx="12252309" cy="1669160"/>
          </a:xfrm>
          <a:prstGeom prst="rect">
            <a:avLst/>
          </a:prstGeom>
        </p:spPr>
        <p:txBody>
          <a:bodyPr lIns="0" tIns="0" rIns="0" bIns="0" rtlCol="0" anchor="t">
            <a:spAutoFit/>
          </a:bodyPr>
          <a:lstStyle/>
          <a:p>
            <a:pPr algn="ctr">
              <a:lnSpc>
                <a:spcPts val="11849"/>
              </a:lnSpc>
            </a:pPr>
            <a:r>
              <a:rPr lang="en-US" sz="12741" b="1">
                <a:solidFill>
                  <a:srgbClr val="FFFDF9"/>
                </a:solidFill>
                <a:latin typeface="Bubblebody Neue Bold"/>
                <a:ea typeface="Bubblebody Neue Bold"/>
                <a:cs typeface="Bubblebody Neue Bold"/>
                <a:sym typeface="Bubblebody Neue Bold"/>
              </a:rPr>
              <a:t>THANK YOU</a:t>
            </a:r>
          </a:p>
        </p:txBody>
      </p:sp>
      <p:sp>
        <p:nvSpPr>
          <p:cNvPr id="7" name="Freeform 7"/>
          <p:cNvSpPr/>
          <p:nvPr/>
        </p:nvSpPr>
        <p:spPr>
          <a:xfrm>
            <a:off x="-1300606" y="327725"/>
            <a:ext cx="5472439" cy="3066788"/>
          </a:xfrm>
          <a:custGeom>
            <a:avLst/>
            <a:gdLst/>
            <a:ahLst/>
            <a:cxnLst/>
            <a:rect l="l" t="t" r="r" b="b"/>
            <a:pathLst>
              <a:path w="5472439" h="3066788">
                <a:moveTo>
                  <a:pt x="0" y="0"/>
                </a:moveTo>
                <a:lnTo>
                  <a:pt x="5472439" y="0"/>
                </a:lnTo>
                <a:lnTo>
                  <a:pt x="5472439" y="3066787"/>
                </a:lnTo>
                <a:lnTo>
                  <a:pt x="0" y="306678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Freeform 8"/>
          <p:cNvSpPr/>
          <p:nvPr/>
        </p:nvSpPr>
        <p:spPr>
          <a:xfrm>
            <a:off x="14523081" y="6556075"/>
            <a:ext cx="5472439" cy="3066788"/>
          </a:xfrm>
          <a:custGeom>
            <a:avLst/>
            <a:gdLst/>
            <a:ahLst/>
            <a:cxnLst/>
            <a:rect l="l" t="t" r="r" b="b"/>
            <a:pathLst>
              <a:path w="5472439" h="3066788">
                <a:moveTo>
                  <a:pt x="0" y="0"/>
                </a:moveTo>
                <a:lnTo>
                  <a:pt x="5472438" y="0"/>
                </a:lnTo>
                <a:lnTo>
                  <a:pt x="5472438" y="3066788"/>
                </a:lnTo>
                <a:lnTo>
                  <a:pt x="0" y="306678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588</Words>
  <Application>Microsoft Office PowerPoint</Application>
  <PresentationFormat>Custom</PresentationFormat>
  <Paragraphs>73</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Canva Sans</vt:lpstr>
      <vt:lpstr>Calibri</vt:lpstr>
      <vt:lpstr>Arial</vt:lpstr>
      <vt:lpstr>Bubblebody Neue Bold</vt:lpstr>
      <vt:lpstr>Bubblebody Neue</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Glioma is a type of brain tumor that arises from glial cells, which are the supportive cells in the central nervous system (CNS). Glial cells provide structure, protection, and support to neurons. Gliomas can occur in the brain or spinal cord and are</dc:title>
  <cp:lastModifiedBy>hazem mahmoud</cp:lastModifiedBy>
  <cp:revision>3</cp:revision>
  <dcterms:created xsi:type="dcterms:W3CDTF">2006-08-16T00:00:00Z</dcterms:created>
  <dcterms:modified xsi:type="dcterms:W3CDTF">2025-01-08T11:50:15Z</dcterms:modified>
  <dc:identifier>DAGbdRjiD-k</dc:identifier>
</cp:coreProperties>
</file>